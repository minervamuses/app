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7fb1916c8a4bea" /><Relationship Type="http://schemas.openxmlformats.org/officeDocument/2006/relationships/extended-properties" Target="/docProps/app.xml" Id="R0cb155158f674adc" /><Relationship Type="http://schemas.openxmlformats.org/officeDocument/2006/relationships/officeDocument" Target="/ppt/presentation.xml" Id="R3d984e428f2f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440b2007944e32"/>
  </p:sldMasterIdLst>
  <p:notesMasterIdLst>
    <p:notesMasterId xmlns:r="http://schemas.openxmlformats.org/officeDocument/2006/relationships" r:id="R967becc46da34029"/>
  </p:notesMasterIdLst>
  <p:sldIdLst>
    <p:sldId xmlns:r="http://schemas.openxmlformats.org/officeDocument/2006/relationships" id="256" r:id="Ra2ed6a1ca7c04180"/>
    <p:sldId xmlns:r="http://schemas.openxmlformats.org/officeDocument/2006/relationships" id="257" r:id="R14ba5a897d2b45ee"/>
    <p:sldId xmlns:r="http://schemas.openxmlformats.org/officeDocument/2006/relationships" id="258" r:id="R0b6ed051fac24dd9"/>
    <p:sldId xmlns:r="http://schemas.openxmlformats.org/officeDocument/2006/relationships" id="259" r:id="R996d443a5e104f56"/>
    <p:sldId xmlns:r="http://schemas.openxmlformats.org/officeDocument/2006/relationships" id="260" r:id="Rd4c877aefc2e4f73"/>
    <p:sldId xmlns:r="http://schemas.openxmlformats.org/officeDocument/2006/relationships" id="261" r:id="R6cf1125740bd49c7"/>
    <p:sldId xmlns:r="http://schemas.openxmlformats.org/officeDocument/2006/relationships" id="262" r:id="R074a51240e454819"/>
    <p:sldId xmlns:r="http://schemas.openxmlformats.org/officeDocument/2006/relationships" id="263" r:id="Rc80522a8593d40ff"/>
    <p:sldId xmlns:r="http://schemas.openxmlformats.org/officeDocument/2006/relationships" id="264" r:id="R91d4820bc31b497c"/>
    <p:sldId xmlns:r="http://schemas.openxmlformats.org/officeDocument/2006/relationships" id="265" r:id="R6411466549d0478b"/>
    <p:sldId xmlns:r="http://schemas.openxmlformats.org/officeDocument/2006/relationships" id="266" r:id="R3cd43ed5bdbf471e"/>
    <p:sldId xmlns:r="http://schemas.openxmlformats.org/officeDocument/2006/relationships" id="267" r:id="Rd018ca97ca834022"/>
    <p:sldId xmlns:r="http://schemas.openxmlformats.org/officeDocument/2006/relationships" id="268" r:id="R38d4af0e7590435b"/>
    <p:sldId xmlns:r="http://schemas.openxmlformats.org/officeDocument/2006/relationships" id="269" r:id="R0b6319e94d674e5e"/>
    <p:sldId xmlns:r="http://schemas.openxmlformats.org/officeDocument/2006/relationships" id="270" r:id="R4275ee2bc8dd4ff6"/>
    <p:sldId xmlns:r="http://schemas.openxmlformats.org/officeDocument/2006/relationships" id="271" r:id="R031b0f86d52f4924"/>
    <p:sldId xmlns:r="http://schemas.openxmlformats.org/officeDocument/2006/relationships" id="272" r:id="R5c171881345c4221"/>
    <p:sldId xmlns:r="http://schemas.openxmlformats.org/officeDocument/2006/relationships" id="273" r:id="R6c4d32a2c27e432e"/>
    <p:sldId xmlns:r="http://schemas.openxmlformats.org/officeDocument/2006/relationships" id="274" r:id="Rdb9499d344f4495c"/>
    <p:sldId xmlns:r="http://schemas.openxmlformats.org/officeDocument/2006/relationships" id="275" r:id="Rd1086c1231a94a84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ef3ceb8c0b4e7e" /><Relationship Type="http://schemas.openxmlformats.org/officeDocument/2006/relationships/slideMaster" Target="/ppt/slideMasters/slideMaster1.xml" Id="R7e440b2007944e32" /><Relationship Type="http://schemas.openxmlformats.org/officeDocument/2006/relationships/notesMaster" Target="/ppt/notesMasters/notesMaster1.xml" Id="R967becc46da34029" /><Relationship Type="http://schemas.openxmlformats.org/officeDocument/2006/relationships/presProps" Target="/ppt/presProps.xml" Id="R73e8400d34204712" /><Relationship Type="http://schemas.openxmlformats.org/officeDocument/2006/relationships/tableStyles" Target="/ppt/tableStyles.xml" Id="Rd5a1c6be36674bc4" /><Relationship Type="http://schemas.openxmlformats.org/officeDocument/2006/relationships/slide" Target="/ppt/slides/slide1.xml" Id="Ra2ed6a1ca7c04180" /><Relationship Type="http://schemas.openxmlformats.org/officeDocument/2006/relationships/slide" Target="/ppt/slides/slide2.xml" Id="R14ba5a897d2b45ee" /><Relationship Type="http://schemas.openxmlformats.org/officeDocument/2006/relationships/slide" Target="/ppt/slides/slide3.xml" Id="R0b6ed051fac24dd9" /><Relationship Type="http://schemas.openxmlformats.org/officeDocument/2006/relationships/slide" Target="/ppt/slides/slide4.xml" Id="R996d443a5e104f56" /><Relationship Type="http://schemas.openxmlformats.org/officeDocument/2006/relationships/slide" Target="/ppt/slides/slide5.xml" Id="Rd4c877aefc2e4f73" /><Relationship Type="http://schemas.openxmlformats.org/officeDocument/2006/relationships/slide" Target="/ppt/slides/slide6.xml" Id="R6cf1125740bd49c7" /><Relationship Type="http://schemas.openxmlformats.org/officeDocument/2006/relationships/slide" Target="/ppt/slides/slide7.xml" Id="R074a51240e454819" /><Relationship Type="http://schemas.openxmlformats.org/officeDocument/2006/relationships/slide" Target="/ppt/slides/slide8.xml" Id="Rc80522a8593d40ff" /><Relationship Type="http://schemas.openxmlformats.org/officeDocument/2006/relationships/slide" Target="/ppt/slides/slide9.xml" Id="R91d4820bc31b497c" /><Relationship Type="http://schemas.openxmlformats.org/officeDocument/2006/relationships/slide" Target="/ppt/slides/slide10.xml" Id="R6411466549d0478b" /><Relationship Type="http://schemas.openxmlformats.org/officeDocument/2006/relationships/slide" Target="/ppt/slides/slide11.xml" Id="R3cd43ed5bdbf471e" /><Relationship Type="http://schemas.openxmlformats.org/officeDocument/2006/relationships/slide" Target="/ppt/slides/slide12.xml" Id="Rd018ca97ca834022" /><Relationship Type="http://schemas.openxmlformats.org/officeDocument/2006/relationships/slide" Target="/ppt/slides/slide13.xml" Id="R38d4af0e7590435b" /><Relationship Type="http://schemas.openxmlformats.org/officeDocument/2006/relationships/slide" Target="/ppt/slides/slide14.xml" Id="R0b6319e94d674e5e" /><Relationship Type="http://schemas.openxmlformats.org/officeDocument/2006/relationships/slide" Target="/ppt/slides/slide15.xml" Id="R4275ee2bc8dd4ff6" /><Relationship Type="http://schemas.openxmlformats.org/officeDocument/2006/relationships/slide" Target="/ppt/slides/slide16.xml" Id="R031b0f86d52f4924" /><Relationship Type="http://schemas.openxmlformats.org/officeDocument/2006/relationships/slide" Target="/ppt/slides/slide17.xml" Id="R5c171881345c4221" /><Relationship Type="http://schemas.openxmlformats.org/officeDocument/2006/relationships/slide" Target="/ppt/slides/slide18.xml" Id="R6c4d32a2c27e432e" /><Relationship Type="http://schemas.openxmlformats.org/officeDocument/2006/relationships/slide" Target="/ppt/slides/slide19.xml" Id="Rdb9499d344f4495c" /><Relationship Type="http://schemas.openxmlformats.org/officeDocument/2006/relationships/slide" Target="/ppt/slides/slide20.xml" Id="Rd1086c1231a94a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fc87646bd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5c09155c214bc5" /><Relationship Type="http://schemas.openxmlformats.org/officeDocument/2006/relationships/notesMaster" Target="/ppt/notesMasters/notesMaster1.xml" Id="R39d3861781ee47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20fb2ce454b7e" /><Relationship Type="http://schemas.openxmlformats.org/officeDocument/2006/relationships/notesMaster" Target="/ppt/notesMasters/notesMaster1.xml" Id="Rcaa45915e48d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b01fabde64002" /><Relationship Type="http://schemas.openxmlformats.org/officeDocument/2006/relationships/notesMaster" Target="/ppt/notesMasters/notesMaster1.xml" Id="R1d9719dbbe2249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9a4aec967f4b41" /><Relationship Type="http://schemas.openxmlformats.org/officeDocument/2006/relationships/notesMaster" Target="/ppt/notesMasters/notesMaster1.xml" Id="R4efec78ede8344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12759d22b34f48" /><Relationship Type="http://schemas.openxmlformats.org/officeDocument/2006/relationships/notesMaster" Target="/ppt/notesMasters/notesMaster1.xml" Id="R1accca84dae2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546b23a1e4358" /><Relationship Type="http://schemas.openxmlformats.org/officeDocument/2006/relationships/notesMaster" Target="/ppt/notesMasters/notesMaster1.xml" Id="R966bec310a4042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562810f8f94660" /><Relationship Type="http://schemas.openxmlformats.org/officeDocument/2006/relationships/notesMaster" Target="/ppt/notesMasters/notesMaster1.xml" Id="Rfab38c18c7c944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f90ac138a64a30" /><Relationship Type="http://schemas.openxmlformats.org/officeDocument/2006/relationships/notesMaster" Target="/ppt/notesMasters/notesMaster1.xml" Id="R66f0cbcb663346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150b67cfc54ce7" /><Relationship Type="http://schemas.openxmlformats.org/officeDocument/2006/relationships/notesMaster" Target="/ppt/notesMasters/notesMaster1.xml" Id="Rec5528563c4e44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b657b303f94c43" /><Relationship Type="http://schemas.openxmlformats.org/officeDocument/2006/relationships/notesMaster" Target="/ppt/notesMasters/notesMaster1.xml" Id="R9f6a2375c6c046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f0da1e13e84a5a" /><Relationship Type="http://schemas.openxmlformats.org/officeDocument/2006/relationships/notesMaster" Target="/ppt/notesMasters/notesMaster1.xml" Id="Rc5009c2b19ce45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10d9e47b034a0f" /><Relationship Type="http://schemas.openxmlformats.org/officeDocument/2006/relationships/notesMaster" Target="/ppt/notesMasters/notesMaster1.xml" Id="Rfda0f7a4812c44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c0eae9d625431a" /><Relationship Type="http://schemas.openxmlformats.org/officeDocument/2006/relationships/notesMaster" Target="/ppt/notesMasters/notesMaster1.xml" Id="R7be758ef1f2445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6d478b470b41f6" /><Relationship Type="http://schemas.openxmlformats.org/officeDocument/2006/relationships/notesMaster" Target="/ppt/notesMasters/notesMaster1.xml" Id="R506072f3b98a4d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159c57708d447a" /><Relationship Type="http://schemas.openxmlformats.org/officeDocument/2006/relationships/notesMaster" Target="/ppt/notesMasters/notesMaster1.xml" Id="R54467d419d6d4a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222233ad7f4599" /><Relationship Type="http://schemas.openxmlformats.org/officeDocument/2006/relationships/notesMaster" Target="/ppt/notesMasters/notesMaster1.xml" Id="Rd4b1b863beb54a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43859e212f4da9" /><Relationship Type="http://schemas.openxmlformats.org/officeDocument/2006/relationships/notesMaster" Target="/ppt/notesMasters/notesMaster1.xml" Id="R05d89fb1313547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6d7598306741bd" /><Relationship Type="http://schemas.openxmlformats.org/officeDocument/2006/relationships/notesMaster" Target="/ppt/notesMasters/notesMaster1.xml" Id="R715586acc1dc48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40a7e096f74a19" /><Relationship Type="http://schemas.openxmlformats.org/officeDocument/2006/relationships/notesMaster" Target="/ppt/notesMasters/notesMaster1.xml" Id="Rb8b685ce02ee47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09582ec8d64097" /><Relationship Type="http://schemas.openxmlformats.org/officeDocument/2006/relationships/notesMaster" Target="/ppt/notesMasters/notesMaster1.xml" Id="R22bb84b5b975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開場：這是我這學期的研究回顧。我不是要講我寫了哪些程式或怎麼 refactor，而是一個研究問題——如何讓 RAG 這種檢索系統，從被動查資料，變成能支援整個研究流程、而且回答可靠的 agent。底下這條 知識庫 → Agent 決策 → 證據答案 → 可靠性評估 是我整場的骨架。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：實驗室的研究資料是高度分散的——論文、筆記、程式碼、實驗紀錄、過去對話、GitHub、網路。一般聊天機器人對這些一無所知，也不懂你專案的上下文。我想做的，是一個能讀本機知識、查程式碼、延續研究脈絡、必要時用外部工具，而且回答有證據、有邊界的研究助理。注意這頁我刻意不談任何技術細節——那些是方法，不是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把研究問題講清楚。RAG 本身很有用：能找相似片段、降幻覺、給來源、補上本地資料。但它解不了研究任務真正的難點——多步驟流程、決定何時查/查哪/用什麼工具、查不到時要停、以及判斷答案是否超出範圍。核心差異是：RAG 假設一次查詢就能回答，但研究是一連串探索與確認。這就是我這學期想處理的縫隙。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研究目標。主問題：如何讓 RAG 從被動查資料，變成能支援研究流程的 agent。拆成三個子問題——資料（在分散資料中找對上下文）、決策（何時查/查哪/用什麼工具）、可靠性（查不到要停、答案要有證據、不能超範圍）。要讓同學知道：我的重點是 agentic RAG 的可靠性，不是做聊天機器人。這三個子問題會貫穿後面的方法與案例。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文獻回顧第一層：RAG。核心想法很簡單——模型的參數記憶有限，不一定知道最新或本地資料；RAG 先檢索外部知識庫，再讓模型根據檢索到的文件作答。好處是降幻覺、給來源、可更新。右邊是 RAG 的標準流程：問題 → 檢索 → 文件 → 作答 → 帶來源的回答。這是後面所有東西的基礎。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文獻回顧第二層：為什麼傳統 RAG 不夠。傳統 RAG 多半是一次 query → retrieve → answer，單向、一次性。但研究任務常要多步驟。Agentic RAG 的概念（呼應 ReAct：reasoning + acting）是讓模型在 推理→行動→觀察 的循環裡自己決定下一步——要不要查、查哪裡、換不換工具、還是停。我只點到 ReAct 概念，不深入公式。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文獻回顧第三層：評估與可靠性。這類系統不能只看回答看起來對不對，因為 agent 可能答案漂亮但過程錯。要分開檢查：retrieval 找對資料、answer 忠於證據、tool routing 合理、查不到會停、有沒有用超範圍的資料。這五個面向後面就變成我自己的評估設計（我內部把它分成幾個 claim，但這裡先不塞命名）。一句總結：評估 agent 要看 trajectory 與 evidence，不只看 final answer。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方法總覽——這是整個系統的高層架構，不講 repo 怎麼拆。三層：(1) Agent Layer 是大腦，接收問題、多步決策、組織帶證據的答案；(2) Knowledge Layer 把研究資料整理成帶 metadata 的知識庫，Tools 提供本機KB、程式碼、過去脈絡、GitHub、Web；(3) Control/Evaluation Layer 負責工具邊界與可靠性評估。整體 I/O 是：使用者研究問題進來，帶證據的答案出去，agent 在中間決策。後面三頁會逐層展開。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方法第一層：Knowledge Layer。做的事——把研究資料、文件、程式碼、筆記整理成可檢索知識庫；加上來源/時間/類型等 metadata；讓 agent 能依問題找相關內容。我特別強調 metadata：研究資料不是平面文件，資料夾、日期、類型都影響能不能找對，這在後面的『時間範圍錯置』案例會變得很關鍵。我刻意不講 rag package、core API 那些實作名稱。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方法第二層：Agent Layer。重點是 agent 不是做一次檢索，而是多步決策——在推理/行動/觀察的循環裡，自己判斷要不要查、查哪裡、要不要補查、切換哪個工具。實作上我用 LangGraph 把這個流程編排成一張可控的 graph，但要強調：LangGraph 只是工具，研究重點是『會決策、可控的流程』本身，不是框架選型。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方法第三層：Control / Evaluation。控制面——不同任務需要不同工具邊界，被禁的工具由系統直接擋，不只靠提示詞（我內部是用 skill policy 與工具守門機制做的，但這裡用研究語言說）。評估面——設計評估任務檢查 agent 是否找對資料、忠於證據、會不會停，並對失敗案例回頭修流程。研究觀點：能力變多時，控制與評估同樣重要，這是 demo 與可用研究助理的差別。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案例一，也是整個轉變的起點。原本是被動 RAG：使用者要自己知道查什麼、怎麼下關鍵字、查哪裡，系統只把相似片段丟回。後來變成主動 agent：使用者只提研究問題，agent 自己決定要不要查、查哪、怎麼過濾、怎麼組答案。要強調的研究重點是——改變的是互動模式（人主導 → agent 主導），不是改了哪些檔案。這是 RAG → agentic RAG 的第一步。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案例二，最有研究價值的一個。現象：當答案其實不在知識庫裡，agent 會反覆搜尋相似但無關的資料，簡單問題甚至叫十幾次工具，而不肯說資料不足。原因是三件事疊加：資料缺口（內容根本不在索引）、缺停止條件、以及它忘了自己查過什麼（早期查詢結果在過程中被丟掉）。修正方向：工具預算、保留查詢證據、graceful give-up 規則。研究觀察很重要——agent 可靠性不是 prompt 一句話能解決，它是資料、記憶、流程一起造成的，要從系統層面修。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案例三，很適合同學理解。使用者問「某日期之前的研究」，agent 找到的資料本身是真的——沒有捏造——但它因為語意相關，把日期之後的材料也用了進來。結果答案不是幻覺，卻仍然不符合研究問題。研究觀察：RAG 的錯誤不只是假資料，也可能是真資料放錯情境。所以可靠性要看的不只是真假，還要看證據有沒有落在使用者指定的時間與來源範圍裡。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案例四，多階段思考。我嘗試讓 agent 先產生答案、由另一個角色審查、再修正（writer→reviewer→reviser）。好處是答案品質確實提升。但帶來新問題：多階段會重複查資料、工具預算在階段間疊加難控制、審查者看不到完整證據時可能誤判。我不講這些角色的 config 細節。重點是這個案例引出未來工作——讓多階段共享一份證據清單、設跨階段的工具預算、加時間範圍檢查。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研究結果第一部分：系統成果——但用『得到什麼』而不是『改了什麼功能』來講。五項：建立本機 RAG 知識庫（索引研究資料與程式碼）；從單次檢索推進到 agentic workflow；加入工具使用、工具限制、研究脈絡延續與外部工具；建立初步評估框架（看答案＋工具使用＋證據忠實度）；以及修復過度搜尋，讓 agent 在資料不足時比較能停。這頁是工程成果，但下一頁的『研究觀察』其實更重要。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研究結果第二部分，也是我最想讓大家帶走的——五個觀察。一，傳統 RAG 的瓶頸不只在 retrieval accuracy，也在任務流程不夠彈性。二，agentic RAG 多了能力也多了控制問題。三，『查不到』是重要能力，agent 必須知道何時停。四，真實資料也可能造成錯誤，尤其時間與來源範圍錯置。五，評估 agent 不能只看 final answer，還要看 tool trajectory 與 evidence。這五點是我從一堆真實失敗裡整理出來的，比工程成果更有價值。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討論：把前面的案例串起來。它們都指向同一件事——真正難的不是接 LLM 或 vector DB，而是可靠性。能用的研究助理跟 demo 的差別在四件事：邊界（資料/時間/來源）、控制（工具）、停止條件、可評估性。對我研究的意義是，它改變了我看『做 RAG 系統』的角度：難的不是檢索，是讓 agent 在不確定中可控、可信、可檢驗。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未來工作，往『可被實驗室使用』推進。六個方向：更正式的 benchmark/evaluation set（可比較、可重現）；更穩定的停止條件；時間／來源邊界的系統性檢查；evidence ledger 讓多階段共享證據；更好的實驗室資料 ingestion 與權限控管；以及用真實研究任務測試，例如論文整理、程式碼理解、實驗紀錄查詢。這幾項直接對應前面案例暴露的問題。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收尾。整段路是 RAG → agentic RAG → 發現可靠性才是核心。三句結論：(1) 本學期完成的不是一般 chatbot，而是面向研究流程的本機 Agentic RAG prototype；(2) 真正困難的不是接 LLM 或 vector DB，而是資料邊界、工具控制、停止條件與可評估性；(3) 下一步是把它從個人工具推進成可被實驗室使用、更穩定可重現的研究助理。謝謝，歡迎提問與討論。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755f8fb624af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9b7c713c34297" /><Relationship Type="http://schemas.openxmlformats.org/officeDocument/2006/relationships/slideLayout" Target="/ppt/slideLayouts/slideLayout1.xml" Id="Rf799a4dd46d7427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9a4dd46d74271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3e462770344b8" /><Relationship Type="http://schemas.openxmlformats.org/officeDocument/2006/relationships/image" Target="/ppt/media/image.png" Id="R54b3efe4a72e4917" /><Relationship Type="http://schemas.openxmlformats.org/officeDocument/2006/relationships/notesSlide" Target="/ppt/notesSlides/notesSlide1.xml" Id="Rdabc6bef288549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b09c7ff074ab8" /><Relationship Type="http://schemas.openxmlformats.org/officeDocument/2006/relationships/image" Target="/ppt/media/image2.png" Id="Rbbc69343ce69436d" /><Relationship Type="http://schemas.openxmlformats.org/officeDocument/2006/relationships/image" Target="/ppt/media/image3.png" Id="R8de46c7ff0094c8b" /><Relationship Type="http://schemas.openxmlformats.org/officeDocument/2006/relationships/image" Target="/ppt/media/image4.png" Id="R6dbefdbdc1234a70" /><Relationship Type="http://schemas.openxmlformats.org/officeDocument/2006/relationships/image" Target="/ppt/media/image5.png" Id="R7676d381487d4e39" /><Relationship Type="http://schemas.openxmlformats.org/officeDocument/2006/relationships/image" Target="/ppt/media/image6.png" Id="Rc1e55be3f7b94ffc" /><Relationship Type="http://schemas.openxmlformats.org/officeDocument/2006/relationships/image" Target="/ppt/media/image7.png" Id="R1ea65cc6ab81473b" /><Relationship Type="http://schemas.openxmlformats.org/officeDocument/2006/relationships/image" Target="/ppt/media/image8.png" Id="Ra1e31b1d64474f61" /><Relationship Type="http://schemas.openxmlformats.org/officeDocument/2006/relationships/image" Target="/ppt/media/image9.png" Id="R6e79c8d513014beb" /><Relationship Type="http://schemas.openxmlformats.org/officeDocument/2006/relationships/image" Target="/ppt/media/image10.png" Id="R40eb6a091c454b2f" /><Relationship Type="http://schemas.openxmlformats.org/officeDocument/2006/relationships/notesSlide" Target="/ppt/notesSlides/notesSlide2.xml" Id="R7836d129011045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a1e3f77b64dc0" /><Relationship Type="http://schemas.openxmlformats.org/officeDocument/2006/relationships/image" Target="/ppt/media/image11.png" Id="Ra4eb32f8004743e5" /><Relationship Type="http://schemas.openxmlformats.org/officeDocument/2006/relationships/image" Target="/ppt/media/image12.png" Id="R59c50a55837e4681" /><Relationship Type="http://schemas.openxmlformats.org/officeDocument/2006/relationships/image" Target="/ppt/media/image13.png" Id="R2400bbb799a6410c" /><Relationship Type="http://schemas.openxmlformats.org/officeDocument/2006/relationships/notesSlide" Target="/ppt/notesSlides/notesSlide3.xml" Id="Ra8f4689200fd4a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888771d9489a" /><Relationship Type="http://schemas.openxmlformats.org/officeDocument/2006/relationships/image" Target="/ppt/media/image14.png" Id="Ra14721ac484f4603" /><Relationship Type="http://schemas.openxmlformats.org/officeDocument/2006/relationships/image" Target="/ppt/media/image15.png" Id="R37d42abebb324c01" /><Relationship Type="http://schemas.openxmlformats.org/officeDocument/2006/relationships/image" Target="/ppt/media/image16.png" Id="Rd2f29530e3454904" /><Relationship Type="http://schemas.openxmlformats.org/officeDocument/2006/relationships/image" Target="/ppt/media/image17.png" Id="R31d8d054331e4755" /><Relationship Type="http://schemas.openxmlformats.org/officeDocument/2006/relationships/image" Target="/ppt/media/image18.png" Id="R1f693dd19c8a428d" /><Relationship Type="http://schemas.openxmlformats.org/officeDocument/2006/relationships/notesSlide" Target="/ppt/notesSlides/notesSlide4.xml" Id="R0a03685cf295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ff748dc804779" /><Relationship Type="http://schemas.openxmlformats.org/officeDocument/2006/relationships/image" Target="/ppt/media/image19.png" Id="Rbc23235a21e64099" /><Relationship Type="http://schemas.openxmlformats.org/officeDocument/2006/relationships/image" Target="/ppt/media/image20.png" Id="R4e394d05952f48cc" /><Relationship Type="http://schemas.openxmlformats.org/officeDocument/2006/relationships/image" Target="/ppt/media/image21.png" Id="Rc182ae60d69c4832" /><Relationship Type="http://schemas.openxmlformats.org/officeDocument/2006/relationships/image" Target="/ppt/media/image22.png" Id="Rac1fdec590e640aa" /><Relationship Type="http://schemas.openxmlformats.org/officeDocument/2006/relationships/image" Target="/ppt/media/image23.png" Id="Rd418802c38914ddd" /><Relationship Type="http://schemas.openxmlformats.org/officeDocument/2006/relationships/image" Target="/ppt/media/image24.png" Id="R7dfd6bf1a4884b6b" /><Relationship Type="http://schemas.openxmlformats.org/officeDocument/2006/relationships/image" Target="/ppt/media/image25.png" Id="Rc1e6ad89fafe4a95" /><Relationship Type="http://schemas.openxmlformats.org/officeDocument/2006/relationships/image" Target="/ppt/media/image26.png" Id="R142e88d3c32b4871" /><Relationship Type="http://schemas.openxmlformats.org/officeDocument/2006/relationships/notesSlide" Target="/ppt/notesSlides/notesSlide5.xml" Id="Rd13450ec602a43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e9cf41f9d45ec" /><Relationship Type="http://schemas.openxmlformats.org/officeDocument/2006/relationships/image" Target="/ppt/media/image27.png" Id="Recec14457bdb4d1e" /><Relationship Type="http://schemas.openxmlformats.org/officeDocument/2006/relationships/image" Target="/ppt/media/image28.png" Id="R3ece51728a764b7a" /><Relationship Type="http://schemas.openxmlformats.org/officeDocument/2006/relationships/image" Target="/ppt/media/image29.png" Id="R63fca9ea559a42c6" /><Relationship Type="http://schemas.openxmlformats.org/officeDocument/2006/relationships/image" Target="/ppt/media/image30.png" Id="Rdcb6d439b3ce4f35" /><Relationship Type="http://schemas.openxmlformats.org/officeDocument/2006/relationships/notesSlide" Target="/ppt/notesSlides/notesSlide6.xml" Id="R5f1f53b0f9cf46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a6cb264ff4782" /><Relationship Type="http://schemas.openxmlformats.org/officeDocument/2006/relationships/image" Target="/ppt/media/image31.png" Id="R35d4ab3443aa4623" /><Relationship Type="http://schemas.openxmlformats.org/officeDocument/2006/relationships/image" Target="/ppt/media/image32.png" Id="Rebdf8d63b5664a27" /><Relationship Type="http://schemas.openxmlformats.org/officeDocument/2006/relationships/image" Target="/ppt/media/image33.png" Id="Red6933e7bcc84ce4" /><Relationship Type="http://schemas.openxmlformats.org/officeDocument/2006/relationships/image" Target="/ppt/media/image34.png" Id="R03b2ea1512b74497" /><Relationship Type="http://schemas.openxmlformats.org/officeDocument/2006/relationships/image" Target="/ppt/media/image35.png" Id="R954cd030c6d540c2" /><Relationship Type="http://schemas.openxmlformats.org/officeDocument/2006/relationships/image" Target="/ppt/media/image36.png" Id="Rbb16babfe79b4311" /><Relationship Type="http://schemas.openxmlformats.org/officeDocument/2006/relationships/notesSlide" Target="/ppt/notesSlides/notesSlide7.xml" Id="R2699ffe678a846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b3aa6856445a8" /><Relationship Type="http://schemas.openxmlformats.org/officeDocument/2006/relationships/image" Target="/ppt/media/image37.png" Id="Rc4ecad4959ba4633" /><Relationship Type="http://schemas.openxmlformats.org/officeDocument/2006/relationships/image" Target="/ppt/media/image38.png" Id="R92a6d48825a745ff" /><Relationship Type="http://schemas.openxmlformats.org/officeDocument/2006/relationships/image" Target="/ppt/media/image39.png" Id="Rf8bc7a1c6c34476d" /><Relationship Type="http://schemas.openxmlformats.org/officeDocument/2006/relationships/notesSlide" Target="/ppt/notesSlides/notesSlide8.xml" Id="R9b1b8dd23e0d4e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4e8da79ea4b77" /><Relationship Type="http://schemas.openxmlformats.org/officeDocument/2006/relationships/image" Target="/ppt/media/image40.png" Id="Racfdc97bcdce4348" /><Relationship Type="http://schemas.openxmlformats.org/officeDocument/2006/relationships/image" Target="/ppt/media/image41.png" Id="Rd859304fdd734086" /><Relationship Type="http://schemas.openxmlformats.org/officeDocument/2006/relationships/image" Target="/ppt/media/image42.png" Id="Rc94ca3887d1a4b81" /><Relationship Type="http://schemas.openxmlformats.org/officeDocument/2006/relationships/image" Target="/ppt/media/image43.png" Id="R6db4b99903bf4dc6" /><Relationship Type="http://schemas.openxmlformats.org/officeDocument/2006/relationships/notesSlide" Target="/ppt/notesSlides/notesSlide9.xml" Id="Rdf9019f0c5d0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6e37d0ba34fad" /><Relationship Type="http://schemas.openxmlformats.org/officeDocument/2006/relationships/image" Target="/ppt/media/image44.png" Id="Re49f83f32054436d" /><Relationship Type="http://schemas.openxmlformats.org/officeDocument/2006/relationships/image" Target="/ppt/media/image45.png" Id="R73312ff7dfaf488d" /><Relationship Type="http://schemas.openxmlformats.org/officeDocument/2006/relationships/image" Target="/ppt/media/image46.png" Id="R7474834500524993" /><Relationship Type="http://schemas.openxmlformats.org/officeDocument/2006/relationships/image" Target="/ppt/media/image47.png" Id="R87c8af7ad2554d28" /><Relationship Type="http://schemas.openxmlformats.org/officeDocument/2006/relationships/notesSlide" Target="/ppt/notesSlides/notesSlide10.xml" Id="Rc9c74404dc474d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b5c5e63714420" /><Relationship Type="http://schemas.openxmlformats.org/officeDocument/2006/relationships/image" Target="/ppt/media/image48.png" Id="R2cd881912b2f45c5" /><Relationship Type="http://schemas.openxmlformats.org/officeDocument/2006/relationships/image" Target="/ppt/media/image49.png" Id="Rbca6dad060344f9f" /><Relationship Type="http://schemas.openxmlformats.org/officeDocument/2006/relationships/image" Target="/ppt/media/image50.png" Id="Rd46a95164f844298" /><Relationship Type="http://schemas.openxmlformats.org/officeDocument/2006/relationships/notesSlide" Target="/ppt/notesSlides/notesSlide11.xml" Id="R233ec5004de149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8b76cd7b040ef" /><Relationship Type="http://schemas.openxmlformats.org/officeDocument/2006/relationships/image" Target="/ppt/media/image51.png" Id="Ra9818654f9354dd7" /><Relationship Type="http://schemas.openxmlformats.org/officeDocument/2006/relationships/image" Target="/ppt/media/image52.png" Id="R0b03594c0c424d06" /><Relationship Type="http://schemas.openxmlformats.org/officeDocument/2006/relationships/image" Target="/ppt/media/image53.png" Id="R85db0a6458184179" /><Relationship Type="http://schemas.openxmlformats.org/officeDocument/2006/relationships/notesSlide" Target="/ppt/notesSlides/notesSlide12.xml" Id="R656e9d78ec1e47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d85796e6142f2" /><Relationship Type="http://schemas.openxmlformats.org/officeDocument/2006/relationships/image" Target="/ppt/media/image54.png" Id="R9d827f9280b743ea" /><Relationship Type="http://schemas.openxmlformats.org/officeDocument/2006/relationships/image" Target="/ppt/media/image55.png" Id="Rb1902c5139444230" /><Relationship Type="http://schemas.openxmlformats.org/officeDocument/2006/relationships/image" Target="/ppt/media/image56.png" Id="R956ef5dbb0e947b6" /><Relationship Type="http://schemas.openxmlformats.org/officeDocument/2006/relationships/image" Target="/ppt/media/image57.png" Id="R959e70b8405b4d91" /><Relationship Type="http://schemas.openxmlformats.org/officeDocument/2006/relationships/image" Target="/ppt/media/image58.png" Id="R6b72395ef0bc4144" /><Relationship Type="http://schemas.openxmlformats.org/officeDocument/2006/relationships/notesSlide" Target="/ppt/notesSlides/notesSlide13.xml" Id="Rd9a53a08b9b94e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afd0e2a1b421b" /><Relationship Type="http://schemas.openxmlformats.org/officeDocument/2006/relationships/image" Target="/ppt/media/image59.png" Id="R08fe7d3300df4658" /><Relationship Type="http://schemas.openxmlformats.org/officeDocument/2006/relationships/image" Target="/ppt/media/image60.png" Id="Rc1c7b9adc07f4e4d" /><Relationship Type="http://schemas.openxmlformats.org/officeDocument/2006/relationships/image" Target="/ppt/media/image61.png" Id="R1f0ed77ccc4a4f57" /><Relationship Type="http://schemas.openxmlformats.org/officeDocument/2006/relationships/image" Target="/ppt/media/image62.png" Id="R16066ef94cf64b90" /><Relationship Type="http://schemas.openxmlformats.org/officeDocument/2006/relationships/image" Target="/ppt/media/image63.png" Id="Rcbd6092276ca4124" /><Relationship Type="http://schemas.openxmlformats.org/officeDocument/2006/relationships/notesSlide" Target="/ppt/notesSlides/notesSlide14.xml" Id="R0ad68d3224e24f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b1407ecd24fef" /><Relationship Type="http://schemas.openxmlformats.org/officeDocument/2006/relationships/image" Target="/ppt/media/image64.png" Id="Rdc80927a0e984a06" /><Relationship Type="http://schemas.openxmlformats.org/officeDocument/2006/relationships/image" Target="/ppt/media/image65.png" Id="R011bcc8811464d99" /><Relationship Type="http://schemas.openxmlformats.org/officeDocument/2006/relationships/image" Target="/ppt/media/image66.png" Id="R17abfa08c5ca4e35" /><Relationship Type="http://schemas.openxmlformats.org/officeDocument/2006/relationships/image" Target="/ppt/media/image67.png" Id="R87d87e3ea5104192" /><Relationship Type="http://schemas.openxmlformats.org/officeDocument/2006/relationships/image" Target="/ppt/media/image68.png" Id="R5fc95e4efe214433" /><Relationship Type="http://schemas.openxmlformats.org/officeDocument/2006/relationships/image" Target="/ppt/media/image69.png" Id="Rde40b4af79a849d5" /><Relationship Type="http://schemas.openxmlformats.org/officeDocument/2006/relationships/image" Target="/ppt/media/image70.png" Id="R12344300843349c5" /><Relationship Type="http://schemas.openxmlformats.org/officeDocument/2006/relationships/notesSlide" Target="/ppt/notesSlides/notesSlide15.xml" Id="R92233c9bb79b47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2283dfdd947cb" /><Relationship Type="http://schemas.openxmlformats.org/officeDocument/2006/relationships/image" Target="/ppt/media/image71.png" Id="R0740fa8b13be4d3f" /><Relationship Type="http://schemas.openxmlformats.org/officeDocument/2006/relationships/image" Target="/ppt/media/image72.png" Id="R59556c08b3ed4eeb" /><Relationship Type="http://schemas.openxmlformats.org/officeDocument/2006/relationships/image" Target="/ppt/media/image73.png" Id="Re57a0844fe4b4eed" /><Relationship Type="http://schemas.openxmlformats.org/officeDocument/2006/relationships/image" Target="/ppt/media/image74.png" Id="R8249acc66b4a4cc0" /><Relationship Type="http://schemas.openxmlformats.org/officeDocument/2006/relationships/image" Target="/ppt/media/image75.png" Id="R006ad7db90be4e24" /><Relationship Type="http://schemas.openxmlformats.org/officeDocument/2006/relationships/notesSlide" Target="/ppt/notesSlides/notesSlide16.xml" Id="Re9af550402914d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8648781344685" /><Relationship Type="http://schemas.openxmlformats.org/officeDocument/2006/relationships/notesSlide" Target="/ppt/notesSlides/notesSlide17.xml" Id="Rc2b5860b0f944b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af1cd32214238" /><Relationship Type="http://schemas.openxmlformats.org/officeDocument/2006/relationships/image" Target="/ppt/media/image76.png" Id="R5285a88e9fb34c4a" /><Relationship Type="http://schemas.openxmlformats.org/officeDocument/2006/relationships/image" Target="/ppt/media/image77.png" Id="R7a1f89a80c834609" /><Relationship Type="http://schemas.openxmlformats.org/officeDocument/2006/relationships/image" Target="/ppt/media/image78.png" Id="Rfe2ecc3ef5bb4463" /><Relationship Type="http://schemas.openxmlformats.org/officeDocument/2006/relationships/image" Target="/ppt/media/image79.png" Id="R2265126c639f43c0" /><Relationship Type="http://schemas.openxmlformats.org/officeDocument/2006/relationships/image" Target="/ppt/media/image80.png" Id="R1fe5f1f780c04689" /><Relationship Type="http://schemas.openxmlformats.org/officeDocument/2006/relationships/image" Target="/ppt/media/image81.png" Id="R4652ba987aba48c0" /><Relationship Type="http://schemas.openxmlformats.org/officeDocument/2006/relationships/notesSlide" Target="/ppt/notesSlides/notesSlide18.xml" Id="R3ea3bed7a62e4a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7fb744874605" /><Relationship Type="http://schemas.openxmlformats.org/officeDocument/2006/relationships/image" Target="/ppt/media/image82.png" Id="R74f7d61c318041c2" /><Relationship Type="http://schemas.openxmlformats.org/officeDocument/2006/relationships/image" Target="/ppt/media/image83.png" Id="R22110ec83be24160" /><Relationship Type="http://schemas.openxmlformats.org/officeDocument/2006/relationships/image" Target="/ppt/media/image84.png" Id="R9088881a1d144b94" /><Relationship Type="http://schemas.openxmlformats.org/officeDocument/2006/relationships/image" Target="/ppt/media/image85.png" Id="R548a787067774525" /><Relationship Type="http://schemas.openxmlformats.org/officeDocument/2006/relationships/image" Target="/ppt/media/image86.png" Id="R320ba363b0514094" /><Relationship Type="http://schemas.openxmlformats.org/officeDocument/2006/relationships/image" Target="/ppt/media/image87.png" Id="R9252721d6c094c78" /><Relationship Type="http://schemas.openxmlformats.org/officeDocument/2006/relationships/notesSlide" Target="/ppt/notesSlides/notesSlide19.xml" Id="Rb6272b8dd0b642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2eae0063d4245" /><Relationship Type="http://schemas.openxmlformats.org/officeDocument/2006/relationships/image" Target="/ppt/media/image88.png" Id="R71298b8133774de6" /><Relationship Type="http://schemas.openxmlformats.org/officeDocument/2006/relationships/image" Target="/ppt/media/image89.png" Id="R904b71daf87648a8" /><Relationship Type="http://schemas.openxmlformats.org/officeDocument/2006/relationships/image" Target="/ppt/media/image90.png" Id="R0eb4123e22fd422d" /><Relationship Type="http://schemas.openxmlformats.org/officeDocument/2006/relationships/image" Target="/ppt/media/image91.png" Id="Rf4300e6a2ddc47e7" /><Relationship Type="http://schemas.openxmlformats.org/officeDocument/2006/relationships/notesSlide" Target="/ppt/notesSlides/notesSlide20.xml" Id="Ra69c5be8a8be41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B02EE3-8472-49E0-A8F0-78347A4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46304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726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0079094-A0E0-48BC-A35E-60CF477A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0624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>
              <a:alpha val="22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31EB95-4A24-4E5B-848B-998123BD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47618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9C42973-BBF0-4CE7-83A2-7FEAA4A8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5504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8A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DAE74A2-ADDD-4FEA-A1F0-B296F634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" y="5751576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知識庫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AA75358-7054-4BB7-8C91-7B8B7CCB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55504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75A30A-58D4-491B-9671-B48E097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751576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Agent 決策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D251C2D-7BEC-46C0-87F6-23915555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55504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8A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4FC9875-A510-4D43-A317-3D6B1ED6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751576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證據答案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6932AE-AFA2-40B0-96D4-2F955FA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55504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7BFF3EF-E88D-4884-834B-23AEA1E7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51576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可靠性評估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A5E68A-5F72-4DB6-BF67-924FFAF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3efe4a72e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143" y="1507663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9C0980C-AAB4-43D7-92D4-67E5CCA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371600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本學期研究回顧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5DE7991-94FB-4A23-BB9A-D65BBA75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從 RAG 到研究型 AI Agent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D1D7B2A-331E-4337-8AF4-A5036801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73552"/>
            <a:ext cx="11155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建構一個支援實驗室研究流程的 </a:t>
            </a:r>
            <a:r>
              <a:rPr sz="2300" b="1">
                <a:solidFill>
                  <a:srgbClr val="2FA8A0"/>
                </a:solidFill>
                <a:latin typeface="Microsoft JhengHei"/>
                <a:ea typeface="Microsoft JhengHei"/>
                <a:cs typeface="Microsoft JhengHei"/>
              </a:rPr>
              <a:t>本機 Agentic RAG 系統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3D1A37B-9531-47C7-B705-1621EB4E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8595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350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研究分散在本機的論文、筆記、程式碼與紀錄之中——這學期我在探索：如何讓檢索系統長成一個能可靠協助研究的 agent。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E0E442E-5672-45EA-B34F-D6778A5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618C"/>
                </a:solidFill>
                <a:latin typeface="Courier New"/>
                <a:ea typeface="Courier New"/>
                <a:cs typeface="Courier New"/>
              </a:rPr>
              <a:t>Agentic RAG　·　Reliability　·　Local Research Assistant</a:t>
            </a:r>
          </a:p>
        </p:txBody>
      </p:sp>
    </p:spTree>
    <p:extLst>
      <p:ext uri="{BB962C8B-B14F-4D97-AF65-F5344CB8AC3E}">
        <p14:creationId xmlns:p14="http://schemas.microsoft.com/office/powerpoint/2010/main" val="1780972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F4B784-02A1-4B3D-B0F4-28F1965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52E090-2BD7-4957-B98F-D93BD9A9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02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21A313-ACDD-43BC-962D-FA1F025B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D1002E-3DBF-446E-A89B-89FCEBF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187A23B-B745-4830-AD56-0A5023A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EEF9BCF-CB21-4A55-A7EC-F6D26DF8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背景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54B222E-7B00-46F5-9ED8-D9E4E8C5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實驗室的研究資料，為什麼難用？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5AC41DC-0982-490B-A82B-771998F9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研究資料散落在很多地方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7B055D-54EE-490D-BD74-59B1F80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1051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D597A9-75F0-4D03-B862-EC2A4E1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9280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69343ce69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198059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54ADCD8-2AA9-462E-9E32-9A733860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81051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論文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131406C-E8A5-4CA3-B46A-6587DBEE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1051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64A6C35-F436-46E4-9E7A-744CCEFF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89280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8A0"/>
          </a:solidFill>
        </p:spPr>
      </p:sp>
      <p:pic>
        <p:nvPicPr>
          <p:cNvPr id="7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46c7ff0094c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8534" y="198059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BD6C078-F0A1-49B7-AE1A-F0462907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181051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研究筆記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A58DD8-C95F-4AF4-A438-ACB6ABCB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5059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B15079D1-9D13-400B-BA73-CFB225F6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328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7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fdbdc1234a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262067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8E56C72F-E99E-461B-98B0-A10F057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45059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程式碼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59A8E2FF-3D7E-424B-9B67-D8BD399E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5059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A5D02F03-236C-41A9-910A-614F4CAE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5328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8A0"/>
          </a:solidFill>
        </p:spPr>
      </p:sp>
      <p:pic>
        <p:nvPicPr>
          <p:cNvPr id="7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6d381487d4e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8534" y="262067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676F0E36-B559-4141-8BA5-D14D841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實驗紀錄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87125E00-8BC7-42A1-BB9D-9CBA9FFE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790056BE-C6C5-4E3F-8451-958CF32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7296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8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55be3f7b94f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326075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B1D65BB6-EE4C-4213-925D-4E902175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0906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對話紀錄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C7BE8EEE-D30C-488D-8998-44822AE9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9067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34FE55CA-4DE5-44F6-8901-1D75E384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17296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8A0"/>
          </a:solidFill>
        </p:spPr>
      </p:sp>
      <p:pic>
        <p:nvPicPr>
          <p:cNvPr id="8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65cc6ab81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8534" y="326075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665EA620-B81F-45E1-B44C-1A3D89AB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0906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GitHub</a:t>
            </a:r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F389E70B-F18C-45B8-B6B9-E9E1D8CC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30752"/>
            <a:ext cx="269748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9F4CC177-C1E5-4951-A92F-6BD691D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1304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9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31b1d6447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454" y="3900830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0DF481D0-CEEB-4D12-958A-E774FD2F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73075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網路資料</a:t>
            </a:r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4B5BEAB1-4540-4A9F-A79A-F8C97574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517904"/>
            <a:ext cx="4785055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9A9568AC-44E6-471D-BB0C-A5CEF61F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7373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9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9c8d51301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08" y="1847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1" name="Text 31">
            <a:extLst xmlns:a="http://schemas.openxmlformats.org/drawingml/2006/main">
              <a:ext uri="{FF2B5EF4-FFF2-40B4-BE49-F238E27FC236}">
                <a16:creationId xmlns:a16="http://schemas.microsoft.com/office/drawing/2014/main" id="{D5B355DF-C33C-49D0-9107-F758E58F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55648"/>
            <a:ext cx="3687775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一般聊天機器人幫不上忙</a:t>
            </a:r>
          </a:p>
        </p:txBody>
      </p:sp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3099AE07-9424-4DC5-BDDD-D0467294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331720"/>
            <a:ext cx="4218127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它不知道你本機的資料</a:t>
            </a:r>
          </a:p>
          <a:p xmlns:a="http://schemas.openxmlformats.org/drawingml/2006/main">
            <a:pPr marL="342900" indent="-342900">
              <a:lnSpc>
                <a:spcPct val="110000"/>
              </a:lnSpc>
              <a:spcAft>
                <a:spcPts val="8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它不知道你專案的上下文</a:t>
            </a:r>
          </a:p>
          <a:p xmlns:a="http://schemas.openxmlformats.org/drawingml/2006/main">
            <a:pPr marL="342900" indent="-342900">
              <a:lnSpc>
                <a:spcPct val="110000"/>
              </a:lnSpc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它無法跨論文、程式碼、紀錄整合一個研究問題</a:t>
            </a:r>
          </a:p>
        </p:txBody>
      </p:sp>
      <p:sp>
        <p:nvSpPr>
          <p:cNvPr id="43" name="Shape 33">
            <a:extLst xmlns:a="http://schemas.openxmlformats.org/drawingml/2006/main">
              <a:ext uri="{FF2B5EF4-FFF2-40B4-BE49-F238E27FC236}">
                <a16:creationId xmlns:a16="http://schemas.microsoft.com/office/drawing/2014/main" id="{BBCBC72E-0C39-4018-826F-7667EE0B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1091153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9F38612B-6411-4CD4-A49A-1DC611F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4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10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b6a091c454b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49011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0A359226-DA57-49F3-A32F-6B1945A8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7316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我想要的研究助理</a:t>
            </a:r>
          </a:p>
        </p:txBody>
      </p:sp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DCFB3C59-9260-43A1-9730-5208CCF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3792"/>
            <a:ext cx="10362895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3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一個能讀本機知識庫、查程式碼、延續研究脈絡、必要時使用外部工具的助理——</a:t>
            </a:r>
            <a:r>
              <a:rPr sz="130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而且回答時要有證據、也要守得住邊界。</a:t>
            </a:r>
          </a:p>
        </p:txBody>
      </p:sp>
    </p:spTree>
    <p:extLst>
      <p:ext uri="{BB962C8B-B14F-4D97-AF65-F5344CB8AC3E}">
        <p14:creationId xmlns:p14="http://schemas.microsoft.com/office/powerpoint/2010/main" val="1262937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8F8F49-18D2-4520-A261-85BA84F1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DF9E3E-DBCB-4E6A-AF3D-911DDEA4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03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68DD67-EDB6-48C0-BB26-A5283AD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0B47F06-B181-4CC3-B688-87B542E1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CE4BA7C-0F2F-4F4D-9FAC-61F90A6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459A8E-D11F-48C0-AB25-CC7BCE2E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4E1649C-FED2-4BE9-96E2-5D5482C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傳統 RAG 能解什麼？不能解什麼？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7419375-54E1-4D53-930F-D83A0152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72888" cy="3200400"/>
          </a:xfrm>
          <a:prstGeom xmlns:a="http://schemas.openxmlformats.org/drawingml/2006/main" prst="roundRect">
            <a:avLst>
              <a:gd name="adj" fmla="val 2571"/>
            </a:avLst>
          </a:prstGeom>
          <a:solidFill xmlns:a="http://schemas.openxmlformats.org/drawingml/2006/main">
            <a:srgbClr val="DCEFEC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6CC07EA-2025-4A50-9D98-A5EB5C37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22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b32f8004743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9019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CA66EE0-A9A7-4C75-A8BC-8255576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792224"/>
            <a:ext cx="4175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RAG 能做到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B06CF63-0864-48A9-9776-4CF98418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468880"/>
            <a:ext cx="4669384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根據問題，從知識庫找相似的文件片段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用外部資料回答，降低幻覺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能提供來源、可追溯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用本地、最新的資料補上模型不知道的事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D3230A5-BE6C-4DC1-A6F0-CB7BA6A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554480"/>
            <a:ext cx="5272888" cy="3200400"/>
          </a:xfrm>
          <a:prstGeom xmlns:a="http://schemas.openxmlformats.org/drawingml/2006/main" prst="roundRect">
            <a:avLst>
              <a:gd name="adj" fmla="val 2571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5A6244-B65C-4EE3-8908-4BB8F37E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17922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50a55837e4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2776" y="19019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2240844-4AB0-4449-8083-296FF44B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840" y="1792224"/>
            <a:ext cx="4175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RAG 解不了的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10D74D4-ABAC-4A18-807A-3DB84255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912" y="2468880"/>
            <a:ext cx="4669384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多步驟的研究任務（探索 → 細查 → 確認 → 整理）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自己判斷何時該查、查哪裡、用什麼工具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1200"/>
              </a:spcAft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查不到時知道該停下來、誠實說資料不足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buChar char="•"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判斷答案是否超出使用者指定的範圍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0629C11-6B98-44C6-A95A-BB2E097E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1149CDE4-15CA-473F-B9EA-D3E4B5B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1937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0bbb799a641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062" y="529474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96004DF6-493A-4963-9357-402AF5CF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5029200"/>
            <a:ext cx="990569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5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關鍵差異　</a:t>
            </a: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傳統 RAG 假設「一次查詢就能回答」；但研究任務往往是一連串的探索與確認，需要的是會決策、會停、會自我檢查的流程，而不只是更準的檢索。</a:t>
            </a:r>
          </a:p>
        </p:txBody>
      </p:sp>
    </p:spTree>
    <p:extLst>
      <p:ext uri="{BB962C8B-B14F-4D97-AF65-F5344CB8AC3E}">
        <p14:creationId xmlns:p14="http://schemas.microsoft.com/office/powerpoint/2010/main" val="1005901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69C15D-EA9B-4DD5-BB01-79E4A521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86E345-FA00-4302-8BE9-6F445EB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04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59900D-4D6D-4A3D-BB4F-364ACBD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3115B-BE41-48A2-9812-359CBCA8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7FE2CF0-6BF3-4E57-BD4B-AA13A6CB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4D5481-C295-4ADA-B54F-DA905A8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研究目標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063CD2-1EA4-4801-B63D-A98941A4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2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把「被動查資料」提升成「支援研究流程的 agent」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109DD7E-2D2C-4370-8B2D-CADC22AD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13E233C-A29E-42D8-BB95-CF17D99E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824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721ac484f4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16" y="17922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90D0D68-872C-4CCE-A7D1-0BBFD75B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81328"/>
            <a:ext cx="972281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50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主問題　</a:t>
            </a: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如何讓 RAG 系統從「被動查資料」，提升成「能支援研究流程的 agent」？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55CD9BD-D513-4FA4-9A7B-529813E1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5059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拆成三個研究子問題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30FC6B0-524C-416D-91BF-D991CA0D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79776"/>
            <a:ext cx="345429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6FD3E5D-F9F5-4B4B-B858-4FB381C1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75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42abebb32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517" y="3131637"/>
            <a:ext cx="247254" cy="247254"/>
          </a:xfrm>
          <a:prstGeom xmlns:a="http://schemas.openxmlformats.org/drawingml/2006/main" prst="rect">
            <a:avLst/>
          </a:prstGeom>
        </p:spPr>
      </p:pic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4E35-9C74-4632-B024-1C635B1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314" y="299923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669A841-B613-4A9E-86C6-154B8D12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314" y="299923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4369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DC88D58-F49D-4FEC-9439-09F851F6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1024"/>
            <a:ext cx="29513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資料問題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06E485E-F5A8-4E57-8761-F643B67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0208"/>
            <a:ext cx="29513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agent 如何在分散的資料中，找到正確的上下文？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62B6534-9D8D-4D8D-834B-8DC99EA2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8" y="2779776"/>
            <a:ext cx="345429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4D39F4F-26BC-4C92-B534-3A6B5489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018" y="30175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29530e3454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136" y="3131637"/>
            <a:ext cx="247254" cy="247254"/>
          </a:xfrm>
          <a:prstGeom xmlns:a="http://schemas.openxmlformats.org/drawingml/2006/main" prst="rect">
            <a:avLst/>
          </a:prstGeom>
        </p:spPr>
      </p:pic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75EA36F-65A8-4842-81E2-432C9CE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933" y="299923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5A832BE-7802-4E50-B9B6-977257E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933" y="299923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4369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B40ABF38-3A00-4957-904A-430C4EB0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018" y="3621024"/>
            <a:ext cx="29513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決策問題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0BC69775-53FF-45EE-A0EF-600701C7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018" y="3950208"/>
            <a:ext cx="29513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agent 如何判斷何時該查、查哪裡、用什麼工具？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B5841E57-9D91-49F0-B49F-D07D22DD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2779776"/>
            <a:ext cx="345429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69EE81D-615C-4929-B2B2-531E07B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30175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8d054331e4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5754" y="3131637"/>
            <a:ext cx="247254" cy="247254"/>
          </a:xfrm>
          <a:prstGeom xmlns:a="http://schemas.openxmlformats.org/drawingml/2006/main" prst="rect">
            <a:avLst/>
          </a:prstGeom>
        </p:spPr>
      </p:pic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84F37D1E-0A44-45D7-8E21-8ECE4B3E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551" y="299923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FA62FA88-9AC9-4947-8DC0-324AF0B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551" y="299923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4369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8EB1C5F-4DF6-496C-999E-BE9B8984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3621024"/>
            <a:ext cx="29513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可靠性問題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8FBC53BF-FCED-4795-8E09-99A8FA4D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637" y="3950208"/>
            <a:ext cx="29513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agent 如何知道查不到該停、答案是否有證據、是否超出範圍？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C10AEAC1-2B25-4800-95BC-3C5AEC9C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81728"/>
            <a:ext cx="10911535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C5B0FA16-9A79-4BC7-81AA-D42CABA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194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93dd19c8a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062" y="50204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5E85EDE0-DC2B-41A7-8931-538C9EE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754880"/>
            <a:ext cx="990569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0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定位　</a:t>
            </a: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我研究的不是「做一個 chatbot」，而是 agentic RAG 的可靠性——能力增加之後，怎麼讓它仍然可控、可信、可被檢驗。</a:t>
            </a:r>
          </a:p>
        </p:txBody>
      </p:sp>
    </p:spTree>
    <p:extLst>
      <p:ext uri="{BB962C8B-B14F-4D97-AF65-F5344CB8AC3E}">
        <p14:creationId xmlns:p14="http://schemas.microsoft.com/office/powerpoint/2010/main" val="1830919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CDF847-F20F-43F2-8114-10AACA7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636975-815C-4BD8-B275-D6023C3A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05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17F491-F77D-4B1E-ABBA-7510407D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04149F-0F11-4A59-8056-0F355C89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0E7C8A8-DB72-4F6B-9042-8D8463CB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73A4C9-B0BE-416C-B3D8-DCE101FA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文獻回顧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3FF08E-4672-4F75-B6D9-CF535611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RAG：讓模型用外部知識回答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FD38233-D94A-4BF5-A8F7-73022BFC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013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3235a21e64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1924263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82D49B3-D136-4123-8B70-3143602F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746504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模型自己的記憶有限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E771ABA-05DC-4055-8E37-E6C5F02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130552"/>
            <a:ext cx="4754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LLM 的參數記憶不一定知道最新、或你本地的資料。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7820EA7-BCC6-4A63-BDA8-28A97AB5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94d05952f48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3067263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E71318-56CA-4DF5-ADB6-941CB3F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89504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先檢索，再回答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1FA5290-5B35-499F-9E63-54AB3A9E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273552"/>
            <a:ext cx="4754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RAG 先從外部知識庫找相關文件，再讓模型根據文件作答。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B3D3D47-0853-4530-877F-20AB94A3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873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2ae60d69c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4210263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A2C4AEC1-C3D3-473C-BDA6-70F14C6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032504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更可信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A885DCE-3271-4326-8185-9E7C94A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16552"/>
            <a:ext cx="4754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可以降低幻覺、提供來源、並隨知識庫更新。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48AAD9AD-7E86-485D-9462-D5AC01AB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83080"/>
            <a:ext cx="4876495" cy="3246120"/>
          </a:xfrm>
          <a:prstGeom xmlns:a="http://schemas.openxmlformats.org/drawingml/2006/main" prst="roundRect">
            <a:avLst>
              <a:gd name="adj" fmla="val 253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D360593B-7544-4976-9EA4-C92F5F55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75104"/>
            <a:ext cx="43278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RAG 的基本流程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CB485850-F27E-44AC-8027-51B1685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377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fdec590e640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441" y="2474001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E8CE18C8-66FA-4581-A959-C3A71D7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59152"/>
            <a:ext cx="377921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328E10E0-6EBA-457A-B450-1F1B7FE6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798064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885649B1-C8F2-4805-B139-2414012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0779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8802c38914d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441" y="3004353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E9975C07-7979-4105-BC9E-F92374C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889504"/>
            <a:ext cx="377921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檢索知識庫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2FEAFDE1-1EFF-4D5B-80ED-4EC7653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328416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84E75975-7837-4E84-ACD9-0BDF0BB2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4381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8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d6bf1a488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441" y="3534705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D470F318-EDDE-469F-84C6-9ACAD69F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419856"/>
            <a:ext cx="377921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取得相關文件</a:t>
            </a:r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6D038645-465C-4E09-866F-727196AF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85876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FE351A70-9F2E-44CB-A1B3-823BF0CD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8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6ad89fafe4a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441" y="4065057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2D1B66F9-A50A-4A71-9752-63E1DD47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950208"/>
            <a:ext cx="377921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模型據文件作答</a:t>
            </a:r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05E70B61-78A9-4F88-B21E-D0F0E2A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389120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F0D35E02-4664-4F69-A522-7CD06B4E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4988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8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e88d3c32b4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7441" y="459540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41" name="Text 31">
            <a:extLst xmlns:a="http://schemas.openxmlformats.org/drawingml/2006/main">
              <a:ext uri="{FF2B5EF4-FFF2-40B4-BE49-F238E27FC236}">
                <a16:creationId xmlns:a16="http://schemas.microsoft.com/office/drawing/2014/main" id="{610A5100-3066-42BE-AA53-12A65F18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480560"/>
            <a:ext cx="377921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有來源的回答</a:t>
            </a:r>
          </a:p>
        </p:txBody>
      </p:sp>
    </p:spTree>
    <p:extLst>
      <p:ext uri="{BB962C8B-B14F-4D97-AF65-F5344CB8AC3E}">
        <p14:creationId xmlns:p14="http://schemas.microsoft.com/office/powerpoint/2010/main" val="1598956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ADECBC-1556-4661-B52B-97699F93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432E72-9FF9-4BB3-95C3-7AED282A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06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BEED99-8B00-4B94-99B6-D7AA7C52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202024-A268-4356-8F5B-29A3005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6753496-757C-46DB-A59E-46D57BB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2445FC5-1118-4164-9FCE-F57679B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文獻回顧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17A1A9-0D36-4E08-BD50-67BA022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從一次檢索，到會決策的 Agentic RAG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B90DCE1-2258-4D64-9918-73F2C76A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911535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AC9BFF5-A4AF-4EA3-8ED2-2F0F43A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8249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傳統 RAG：單向、一次性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C223A-D163-4844-A786-312AE20B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3664"/>
            <a:ext cx="1554480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E6808F-1A15-4A01-9682-A3A4E99A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3664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6E6A18B-8AE8-4D8B-AAD6-C9C6220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883664"/>
            <a:ext cx="457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D21DBD8-3440-429A-8E6F-238297A5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83664"/>
            <a:ext cx="1554480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B62F470-F12B-40C1-B6DC-C964769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83664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檢索一次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6EBDECE-1376-4C7E-8BF3-B64FF330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883664"/>
            <a:ext cx="457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9A4C039-EA64-4F00-A299-608258CF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883664"/>
            <a:ext cx="1554480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EB69BEE-C855-4B20-87AB-1E3C586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883664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作答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90ABDA9-00A0-4C1F-B285-B678922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10911535" cy="187452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DCEFEC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A787FD4-28B4-48E9-8BBF-717E9009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2928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Agentic RAG：自己決定下一步（reasoning ＋ acting）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950711A-10AE-473F-A266-8791BFC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3552"/>
            <a:ext cx="2966618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8BCFA28-3AFE-4FDD-96C7-A2503A5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381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c14457bdb4d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129" y="3534705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05D6D09-C73A-4CBD-B084-BE15C09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419856"/>
            <a:ext cx="21436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推理 Reason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D84CF87-3A92-4ABA-BDD5-CEA1506E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840480"/>
            <a:ext cx="255513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現在知道什麼？還缺什麼？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BDA3AB5-1E0F-4BA1-9DD9-40662838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594" y="3639312"/>
            <a:ext cx="65836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A8A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47B46A1-5584-4E46-8E56-06B77F1A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538" y="3273552"/>
            <a:ext cx="2966618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2012D0A-9F27-4160-A6FE-FD61C08A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706" y="34381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e51728a764b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0267" y="3534705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6B78D08E-41CE-431A-BE91-7D13B4E3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194" y="3419856"/>
            <a:ext cx="21436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行動 Act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34C884CF-2359-48B6-B9A9-E209E1F1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994" y="3840480"/>
            <a:ext cx="255513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查知識庫？換工具？還是停？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C5C8ABD-1900-4477-A68A-82F4A8B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733" y="3639312"/>
            <a:ext cx="65836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A8A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67AEFEB-8B2F-4544-B94F-322F0969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677" y="3273552"/>
            <a:ext cx="2966618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F0419FCC-AB34-4FF9-94F4-81EBAECE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845" y="34381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ca9ea559a42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08405" y="3534705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EB7E64D2-EE26-4EC2-8AC9-AE2A52E8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333" y="3419856"/>
            <a:ext cx="21436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觀察 Observe</a:t>
            </a:r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1F28D58B-4C37-44E4-B24E-01EC8650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133" y="3840480"/>
            <a:ext cx="255513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看結果，決定下一步</a:t>
            </a:r>
          </a:p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91D0C8A4-5F2A-4212-85E0-F001E231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3984"/>
            <a:ext cx="99056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FA8A0"/>
            </a:solidFill>
            <a:prstDash val="dash"/>
          </a:ln>
        </p:spPr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ADF09229-6F4A-4B2D-8909-F8792DBF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43984"/>
            <a:ext cx="1091153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循環，直到有足夠證據可以回答</a:t>
            </a:r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B2B2A145-5393-484B-8BFE-AB56CA5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CF1B6B9D-A05C-4772-9292-18653060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1937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6d439b3ce4f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062" y="529474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F0B15F6A-840A-430E-8777-E478D4C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5029200"/>
            <a:ext cx="990569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5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重點　</a:t>
            </a: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研究任務常需要多步（探索 → 細查 → 確認 → 整理）。Agentic RAG 讓模型自己決定下一步要不要查、查哪裡、用什麼工具，或乾脆停下——這正是研究流程需要的彈性。</a:t>
            </a:r>
          </a:p>
        </p:txBody>
      </p:sp>
    </p:spTree>
    <p:extLst>
      <p:ext uri="{BB962C8B-B14F-4D97-AF65-F5344CB8AC3E}">
        <p14:creationId xmlns:p14="http://schemas.microsoft.com/office/powerpoint/2010/main" val="131561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5E1977-D67C-45CC-92A0-EC868D3C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F811F2-50C5-449C-975C-279D134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07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E738E6-F9CF-4268-A2BC-150A0D1D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2141BA9-8D26-4132-BEDE-D2E2615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62A62C1-D9B7-4A35-9C33-0F6D8027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F5F72B-2A2A-4505-AB81-CC22F20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文獻回顧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167646-E089-4BE6-98DB-F7A9DA1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為什麼「看起來對」不能當作評估？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987FC7-6C35-4466-8D71-68BA1D19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1091153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agent 可能答案漂亮，但過程其實是錯的。要可靠，得分開檢查幾件事：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1D733CE-471E-437E-B779-433673A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454298" cy="128016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B775DB-91FB-4811-B6D9-735BAFB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3113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4ab3443aa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552" y="234086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75348EF-89CA-4662-8856-ABC7CDE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231136"/>
            <a:ext cx="24484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找對資料了嗎？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09A8298-A610-4580-9E22-9A0DD7A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61488"/>
            <a:ext cx="29970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retrieval 是否真的取到相關內容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81A65FF-87B6-4B78-8194-15EFBDFF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8" y="2011680"/>
            <a:ext cx="3454298" cy="128016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9E4C22C-7B8E-4F20-B7F7-3037BC4C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442" y="223113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f8d63b5664a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6170" y="234086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FD75423-E512-4950-8367-D46465AA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658" y="2231136"/>
            <a:ext cx="24484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答案忠於證據嗎？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DD894CA-B22B-4353-8A15-A569438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730" y="2761488"/>
            <a:ext cx="29970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回答有沒有根據、有沒有幻覺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EE47E4A8-39EA-472E-816E-B2103C48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2011680"/>
            <a:ext cx="3454298" cy="128016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2E878E6-EC21-4412-82CD-D6796CB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061" y="223113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933e7bcc8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4789" y="234086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6AB8F437-6774-4AEB-938F-34603494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277" y="2231136"/>
            <a:ext cx="24484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用工具合理嗎？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EF1C711C-361F-42E8-944C-7853DB19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61488"/>
            <a:ext cx="29970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tool routing 是否選對、有沒有亂用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3A8AC2C-1879-42FA-B8CD-CD6AA723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3454298" cy="128016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4348841E-1911-48CE-AB4B-9DC89BD6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484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2ea1512b7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552" y="37581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84AFDF8-2707-4CA9-B9EE-188F3108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48456"/>
            <a:ext cx="24484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查不到會停嗎？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A909D5FE-5E8E-4983-81F1-18616709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78808"/>
            <a:ext cx="29970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能不能誠實說資料不足，而不是繞圈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2E90C3B9-1BE9-4770-97CE-5558236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8" y="3429000"/>
            <a:ext cx="3454298" cy="128016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E73FB545-2C70-4248-8718-24DFA67A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442" y="36484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cd030c6d5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6170" y="37581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B153434-D459-46BF-B03C-EE6558D3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658" y="3648456"/>
            <a:ext cx="24484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有守住範圍嗎？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A90AC00B-D318-40B9-AE5E-A5ACA927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730" y="4178808"/>
            <a:ext cx="299709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有沒有用到超出時間、來源範圍的資料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3B818D5-1C2F-475F-8370-4EE8FA08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3429000"/>
            <a:ext cx="3454298" cy="128016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3F6EF191-63A4-490D-B749-AA56039A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061" y="36484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6babfe79b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4789" y="37581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A499C40D-E4F0-4551-B5A5-F71B9AB5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4169664"/>
            <a:ext cx="299709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8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這幾個面向，後面變成我的評估設計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03F66AEE-D751-4E3E-AF9A-BEACE3FF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115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i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評估 agent，不能只看 final answer，還要看它「怎麼走到答案」——也就是 tool trajectory 與 evidence。</a:t>
            </a:r>
          </a:p>
        </p:txBody>
      </p:sp>
    </p:spTree>
    <p:extLst>
      <p:ext uri="{BB962C8B-B14F-4D97-AF65-F5344CB8AC3E}">
        <p14:creationId xmlns:p14="http://schemas.microsoft.com/office/powerpoint/2010/main" val="46436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417F46-66EF-4D3B-B413-F87009DA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8068BB-55DF-4F78-9B6B-297803B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08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B9DB56-6BBF-4618-94E1-322792B0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171FB0-CC82-4E74-AC80-C9468C2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D3C7AB9-09AA-41BA-BC30-EDF7F4E3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8AA0A1-C911-4577-8C4D-AF77EFB5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FF40DD-157B-49D2-AC96-9966BB86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系統總覽：知識、決策、控制三層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346BC7-7E68-4E1C-A436-96338DB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44752"/>
            <a:ext cx="210312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29AF816-B65C-4139-8B35-B98EED63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44752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使用者研究問題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E2FF90-26E5-4C21-A7E7-66663FE0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444752"/>
            <a:ext cx="661385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———— agent 在中間做多步決策 ————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926C54A-1EE4-4679-B7EE-99C001AE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495" y="1444752"/>
            <a:ext cx="210312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AF4FE3E-7770-4F9D-8A4A-EF4D7E89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495" y="1444752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帶證據的答案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5EE727-4163-4361-A314-271F053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10911535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1A9F3EC-BA07-4356-8737-A96E605C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D14621-D4B2-4C05-ADD3-B95BA310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5243B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E503966-9491-4F61-99A6-EF2C6564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214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Agent Layer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D8A5D6F-C2E6-4B65-B551-07A9E93A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4688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接收問題 → 多步決策 → 組織帶證據的答案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7D12738-7FC2-44B3-B4F1-53DCB5FF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340864"/>
            <a:ext cx="16916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4369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F0F2DB6-A2CC-4620-B203-B1CB95EF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340864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判斷要不要查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666228-77B2-48C9-AEB9-400BACFC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40864"/>
            <a:ext cx="16916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4369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7A50324-39BF-46C5-B4C2-22331945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340864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選哪個工具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F8431AF-E698-4EE3-BA2A-C82AA7C9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340864"/>
            <a:ext cx="16916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4369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8D37B56-163A-4222-96D1-A08A941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340864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整合證據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BA98745-E28D-459C-B980-BB63996F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3054096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5690A87-E009-46B5-B4F5-6A72DDE8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55264"/>
            <a:ext cx="5318608" cy="120700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DCEFEC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C307B53-9A89-4729-B8BE-6F2D702B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564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cad4959ba46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774" y="355738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D54E463-39E8-4DC4-9084-2C31508A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3456432"/>
            <a:ext cx="44042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2　Knowledge Layer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ECDD169-84D3-41F0-A59B-EAB48CB1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8496"/>
            <a:ext cx="47699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8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研究資料、文件、程式碼、筆記 → 帶 metadata 的知識庫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1926570-6224-4416-9108-9613B89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3255264"/>
            <a:ext cx="5318608" cy="120700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1F8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78BFAF2-0BDD-4EED-831D-9616CDD5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52" y="34564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6d48825a745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1701" y="355738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0B0E863F-DC53-43BB-8886-C61A2F9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104" y="3456432"/>
            <a:ext cx="44042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　Tools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24FE1F3-2B7B-4927-BF07-2C4EB07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3968496"/>
            <a:ext cx="47699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8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本機知識庫 · 程式碼 · 過去脈絡 · GitHub · Web</a:t>
            </a:r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BA1F24CB-8771-4494-81EB-C3F5731F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446227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AD1AA439-BE1F-417C-AC31-0C2787DB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10911535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BEBD3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653E31DE-B403-42B1-A70E-5FEAEE22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11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c7a1c6c34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350" y="50021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02F968BE-DFA5-4FE5-9D5D-E352B82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901184"/>
            <a:ext cx="4572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3　Control / Evaluation Layer</a:t>
            </a:r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E1DA2C10-173A-4984-B1F3-C082C8C7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5358384"/>
            <a:ext cx="981425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工具邊界</a:t>
            </a: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（不同任務開放不同工具）　＋　</a:t>
            </a:r>
            <a:r>
              <a:rPr sz="1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可靠性評估</a:t>
            </a: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（找對資料 · 忠於證據 · 合理用工具 · 知道何時停）</a:t>
            </a:r>
          </a:p>
        </p:txBody>
      </p:sp>
    </p:spTree>
    <p:extLst>
      <p:ext uri="{BB962C8B-B14F-4D97-AF65-F5344CB8AC3E}">
        <p14:creationId xmlns:p14="http://schemas.microsoft.com/office/powerpoint/2010/main" val="16898526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0A0542-2C0B-40A9-955A-60B0B5DE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59301-F304-4672-9812-57115BF1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09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FB69369-1C3F-4FE8-9AE6-4C2E1D5B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A55B6A-6A35-4C2C-BB58-0E1D3FD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423B242-F0D6-44E4-9767-39119915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B52425-FB85-4CF0-A7FC-1FE98E3C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15336E5-FB21-4A38-B771-A7EF191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2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如何把分散的研究資料，變成可查的知識？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BF40E9A-51AF-4A7D-80A0-69AF0AB5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dc97bcdce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195169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510EC3-8B89-4046-BC10-FD8DEB8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77393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整理成可檢索的知識庫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E4CA1BA-0E15-4865-BC58-7C28FFA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157984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把論文、文件、程式碼、筆記切塊、嵌入，建成一個可檢索的知識庫。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865D1DB-ED84-487A-9C7E-67169D14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9304fdd73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314041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9C30AE1-3C67-4D5E-8424-12875F27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6265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加上 metadata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EE55D69-E525-4FAA-8DD4-8FE61119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46704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標記來源、時間、資料類型——讓檢索能依條件過濾，而不只是比關鍵字。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33ED1C5-E5E5-4021-8468-9F3CE394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ca3887d1a4b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432913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87F177C4-7FFB-4C9B-8D41-8A4AAD9B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15137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依研究問題找相關內容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72E7091-C985-4C11-8FBD-85C2E53B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35424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結合語意相似與 metadata 過濾，找出真正相關的片段。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A1A7DAC3-E130-44CD-9B50-889599BA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10512"/>
            <a:ext cx="4785055" cy="265176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896EB5F4-4CD9-4B5F-8398-19009915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993392"/>
            <a:ext cx="42364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從原始資料到可查知識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09E4FEDF-1670-409D-8338-626340DE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377440"/>
            <a:ext cx="405353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D1AE147C-9220-4769-875D-46094A6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377440"/>
            <a:ext cx="4053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論文 · 程式碼 · 筆記 · 紀錄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5C8FB8AA-0BEA-4B85-A18A-5C85032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2852928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7C6EA841-98FA-4B0C-8ACB-50B0A117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35808"/>
            <a:ext cx="405353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3419128F-0D4C-4B58-8751-B3E9F56E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35808"/>
            <a:ext cx="4053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切塊 · 嵌入 · 加 metadata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51EB20D7-F710-421D-B339-1838E496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3511296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966EB1B2-9F52-45FC-8388-241A0387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94176"/>
            <a:ext cx="405353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43B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76132934-445F-458D-B022-F3C860B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94176"/>
            <a:ext cx="4053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可依語意＋條件檢索的知識庫</a:t>
            </a: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A226318A-144C-4CE8-8395-88A2514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10911535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937B4509-5927-495D-919B-47DB9AC6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56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4b99903bf4d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062" y="505699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851D3FE0-C8DB-4DE9-BF81-96E49E2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809744"/>
            <a:ext cx="99056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為什麼 metadata 重要　</a:t>
            </a: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研究資料不是一堆平面文件——資料夾、日期、類型、標籤都會影響「有沒有找對」。少了這層，agent 很容易把語意相近但其實無關的內容當成答案。</a:t>
            </a:r>
          </a:p>
        </p:txBody>
      </p:sp>
    </p:spTree>
    <p:extLst>
      <p:ext uri="{BB962C8B-B14F-4D97-AF65-F5344CB8AC3E}">
        <p14:creationId xmlns:p14="http://schemas.microsoft.com/office/powerpoint/2010/main" val="1779040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A19596-C4DE-45B5-9DDA-78E24B81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C484AB-FCDE-4A66-8458-43EDA13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10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76ABB18-1AE9-466E-853B-83475286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65211A-C4E7-4C48-B810-D37F3C9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C3E044B-0716-402A-AA93-B6B6074A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C5C27A-5711-415A-A54D-21CB86AD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01523F3-93EA-40C8-86D2-EB4C402E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Agent 需要的不只是檢索，而是可控的決策流程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10BAD21-86A9-432B-A313-D652A79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f83f32054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195169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FF0350D-0DDC-4148-8028-E347D44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77393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多步決策，而非一次檢索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EE31B9A-B959-4FDE-9AD1-74F2BE23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157984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在一個任務裡反覆推理、行動、觀察，逐步逼近答案。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35B5FD2-77BE-46F8-A288-24130040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12ff7dfaf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314041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6258E5-D2EE-4457-A0E2-1E67D6B1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6265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自己判斷要不要查、查哪裡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462749D-CAF9-4D6E-9BB3-C17FCB48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346704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決定是否搜尋、要搜哪個來源、需不需要再補查。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5A4D832-5A64-4708-8128-4D34992E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483450052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975" y="4329135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2736769-F32A-41A2-AEB5-B7A728CB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151376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依需要切換工具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C4D572B-116F-4D15-9AC6-5E30FB90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35424"/>
            <a:ext cx="4846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本機知識庫、程式碼、過去脈絡、GitHub、Web 之間切換。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567F49BA-B28C-4A75-8E8E-17ADC36F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10512"/>
            <a:ext cx="4785055" cy="265176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4A00BB41-39FA-42A1-BDDF-ECCAAF5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993392"/>
            <a:ext cx="423641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一個任務裡的決策循環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767F39BB-0D82-4514-99A2-C9BAF20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377440"/>
            <a:ext cx="405353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73F6FCA-1F6F-4A54-AA67-A5512DB2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377440"/>
            <a:ext cx="4053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這題我已知什麼、還缺什麼？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05EBE281-5E0C-4BFF-B089-256265E7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2852928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4FC0617E-0400-4A15-8F6F-65590B56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80944"/>
            <a:ext cx="405353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B1848F65-121C-4D80-923A-80D5BDAE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80944"/>
            <a:ext cx="4053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要不要查？查哪？換工具？還是停？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0FCF6420-34C5-46C8-A9C7-4B8C3573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88" y="345643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137D94C8-88FC-4DC9-8FF3-CA93434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584448"/>
            <a:ext cx="405353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982CC39-4A40-434F-8FD5-C193C95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584448"/>
            <a:ext cx="4053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看結果，決定下一步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BBA21969-C164-406F-981C-A30B7EED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69664"/>
            <a:ext cx="4053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↻ 直到證據足夠</a:t>
            </a:r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50CC4AC7-1CB5-4F00-B129-20298C5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10911535" cy="1261872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A0726D2E-EED3-42E9-9C99-75F55E8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6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8A0"/>
          </a:solidFill>
        </p:spPr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8af7ad2554d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350" y="505699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292203E0-4BA9-42EB-A73C-B86AD2A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809744"/>
            <a:ext cx="981425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 b="1">
                <a:solidFill>
                  <a:srgbClr val="2FA8A0"/>
                </a:solidFill>
                <a:latin typeface="Microsoft JhengHei"/>
                <a:ea typeface="Microsoft JhengHei"/>
                <a:cs typeface="Microsoft JhengHei"/>
              </a:rPr>
              <a:t>實作上　</a:t>
            </a:r>
            <a:r>
              <a:rPr sz="12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我用 LangGraph 來編排這個決策流程（把推理、工具呼叫、狀態管理組成一張可控的 graph）。但它只是實作工具——研究重點是這個「會決策、可控」的流程本身，不是框架。</a:t>
            </a:r>
          </a:p>
        </p:txBody>
      </p:sp>
    </p:spTree>
    <p:extLst>
      <p:ext uri="{BB962C8B-B14F-4D97-AF65-F5344CB8AC3E}">
        <p14:creationId xmlns:p14="http://schemas.microsoft.com/office/powerpoint/2010/main" val="9925745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5AE46-4867-44B9-9016-D967DAE5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E31EC1-FB0A-49EB-BE22-2028692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11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38C5E5-E659-4B2E-B423-A01F86E4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385F4B-1303-4A10-8D03-C9C8EBC5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64BB445-512D-4260-A54E-42165748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83D964-4DE3-4185-BE48-1139F0B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1BADE8-A01A-4842-A7BB-A38F421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如何避免 agent 亂用工具、又知道它可不可靠？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10449DC-EDE9-4F7A-ACEA-A8A3ED8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72888" cy="2697480"/>
          </a:xfrm>
          <a:prstGeom xmlns:a="http://schemas.openxmlformats.org/drawingml/2006/main" prst="roundRect">
            <a:avLst>
              <a:gd name="adj" fmla="val 3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5587B7E-5302-43BA-9903-F0F87E2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222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881912b2f45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517" y="1906341"/>
            <a:ext cx="247254" cy="24725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30245AD-A1C5-4938-AA9A-786261EE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792224"/>
            <a:ext cx="4175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控制：工具邊界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F688903-AB72-4C8F-8DB2-008376A4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432304"/>
            <a:ext cx="4669384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6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不同研究任務，需要不同的工具邊界</a:t>
            </a:r>
          </a:p>
          <a:p xmlns:a="http://schemas.openxmlformats.org/drawingml/2006/main">
            <a:pPr marL="342900" indent="-342900">
              <a:lnSpc>
                <a:spcPct val="106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例如「寫作」任務不該隨意執行本機命令</a:t>
            </a:r>
          </a:p>
          <a:p xmlns:a="http://schemas.openxmlformats.org/drawingml/2006/main">
            <a:pPr marL="342900" indent="-342900">
              <a:lnSpc>
                <a:spcPct val="106000"/>
              </a:lnSpc>
              <a:buChar char="•"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被禁止的工具是系統直接擋下，不只靠提示詞約束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7316D5E-B10C-4236-95CE-56FFAFF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554480"/>
            <a:ext cx="5272888" cy="2697480"/>
          </a:xfrm>
          <a:prstGeom xmlns:a="http://schemas.openxmlformats.org/drawingml/2006/main" prst="roundRect">
            <a:avLst>
              <a:gd name="adj" fmla="val 3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1850E0F-3019-4C91-BCCD-026E5E97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179222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6dad06034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165" y="1906341"/>
            <a:ext cx="247254" cy="24725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5C29244-B43E-4238-AA06-57ED740A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840" y="1792224"/>
            <a:ext cx="4175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評估：是否可靠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C028061-62A6-499E-B734-93D164A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912" y="2432304"/>
            <a:ext cx="4669384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6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設計評估任務，檢查 agent 的行為</a:t>
            </a:r>
          </a:p>
          <a:p xmlns:a="http://schemas.openxmlformats.org/drawingml/2006/main">
            <a:pPr marL="342900" indent="-342900">
              <a:lnSpc>
                <a:spcPct val="106000"/>
              </a:lnSpc>
              <a:spcAft>
                <a:spcPts val="1000"/>
              </a:spcAft>
              <a:buChar char="•"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看它有沒有找對資料、是否忠於證據、會不會停</a:t>
            </a:r>
          </a:p>
          <a:p xmlns:a="http://schemas.openxmlformats.org/drawingml/2006/main">
            <a:pPr marL="342900" indent="-342900">
              <a:lnSpc>
                <a:spcPct val="106000"/>
              </a:lnSpc>
              <a:buChar char="•"/>
            </a:pPr>
            <a:r>
              <a:rPr sz="12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針對失敗案例，回頭修正流程，而不是只調提示詞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6C1261D-4D55-4E3E-82D2-4B6AD43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0911535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FFA7574-59F5-46DA-BDF3-81B39C5F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1830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a95164f844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062" y="481925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D22787B-405C-4AE5-99ED-5067A8A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553712"/>
            <a:ext cx="990569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0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研究觀點　</a:t>
            </a: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能力一旦變多，控制與評估就同樣重要。這一層的目的，是讓 agent 不只「能做事」，而是「做得可控、可被檢驗」——這正是把 demo 變成可用研究助理的關鍵。</a:t>
            </a:r>
          </a:p>
        </p:txBody>
      </p:sp>
    </p:spTree>
    <p:extLst>
      <p:ext uri="{BB962C8B-B14F-4D97-AF65-F5344CB8AC3E}">
        <p14:creationId xmlns:p14="http://schemas.microsoft.com/office/powerpoint/2010/main" val="721815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13CE9C-7D62-4126-9690-C8081A1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923DAE-65A4-4BFA-96CA-102BBF6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12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12A039-DF3E-42A1-936F-B6113FB3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A7533B-B0C4-4BD4-9621-B1F4245C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5243B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B37E901-9612-40B5-B465-7FD7E15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ED2703-734B-4272-ADCE-78BE034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評估設計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E701C1B-76B9-420B-8CC2-D72E79A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2175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C1：工具路由 — trace 逐項比對、不是只看第一個工具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91B7B13-7C56-44ED-8B88-5D0AFDC7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91056"/>
            <a:ext cx="5272888" cy="246888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F5AF665-6823-421F-9938-6AA6FFC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05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18654f9354d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739" y="191585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9B08BBA-E91D-451A-AA6D-AB3C70F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1810512"/>
            <a:ext cx="42670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Gold 規格轉成可打分 checks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4E37DCB-F0C2-4D21-A3D0-34E19F1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95728"/>
            <a:ext cx="468767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223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23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每個 frozen case 先轉成 behavior case，再比對 first_tool / first_tool_in、tool_count(min/max)、include / any_of、forbidden、tool_family；無工具情境也會判 no_tool。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1066C89-27B4-46B7-AE45-CC09273E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544" y="2606040"/>
            <a:ext cx="292608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8699248-6B91-471A-8E82-52E3B3B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544" y="2569464"/>
            <a:ext cx="29260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F3FECEF-F9E7-49DC-93B3-2428E797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591056"/>
            <a:ext cx="5272888" cy="246888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CEFEC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B5793DB-89D7-4761-8E29-3F5CF10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48" y="18105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3594c0c424d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8386" y="191585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A514526-A363-4D8E-9AA8-5F24DAE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552" y="1810512"/>
            <a:ext cx="42670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參數、答案與「停得住」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772F10E-AB4F-4FAE-8B34-B44B3CB2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624" y="2395728"/>
            <a:ext cx="468767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223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23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actual_args 一起進 scoring：rag_search 會檢查 filters；give-up case 另用 expected_answer_regex 驗 final answer，避免查不到卻硬答或無限 search。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D987428-A7DA-4FEE-996A-254EE6B0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61104"/>
            <a:ext cx="10911535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2BB73A64-26E0-483F-8343-5867E26A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8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b0a645818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350" y="459979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54E962B2-E53B-408D-9E1F-C15E74C6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334256"/>
            <a:ext cx="981425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設計重點　</a:t>
            </a:r>
            <a:r>
              <a:rPr sz="12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逐 turn 收集 tool_calls / actual_args / step_log；缺必要工具預設 fail-fast，allow_skips 只供 dev。case passed = 所有 checks 都 true，aggregate 拆 first_tool、count、coverage、forbidden、filter、answer accuracy。</a:t>
            </a:r>
          </a:p>
        </p:txBody>
      </p:sp>
    </p:spTree>
    <p:extLst>
      <p:ext uri="{BB962C8B-B14F-4D97-AF65-F5344CB8AC3E}">
        <p14:creationId xmlns:p14="http://schemas.microsoft.com/office/powerpoint/2010/main" val="1849347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EA876D-4D4F-4891-A1D7-803604C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7E75C2-361F-44CF-AD26-F0F2749E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13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8CA607-5486-48E6-9FA1-55ABDEE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6450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785146-234A-4037-BAF0-106B710E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B17CAB8-F41F-40C3-9CA3-DDEE2241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927BF9-5A78-4C8C-9DFD-4D5B8F6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評估設計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D0A7837-849D-40BF-A055-63A66FBF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2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C2：檢索品質 — 固定 fixture、直接評 search 排名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897D857-4155-4B2A-8F17-201A5742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10911535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E1D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A73C14-C997-4ED2-AC60-17ECD3BC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6733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27f9280b743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385" y="1769913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5A8534E-4498-4058-8B0D-BA42A5F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54480"/>
            <a:ext cx="99056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latin typeface="Microsoft JhengHei"/>
                <a:ea typeface="Microsoft JhengHei"/>
                <a:cs typeface="Microsoft JhengHei"/>
              </a:defRPr>
            </a:pPr>
            <a:r>
              <a:rPr sz="1148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評估什麼　</a:t>
            </a:r>
            <a:r>
              <a:rPr sz="1148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繞過 LLM，直接呼叫 rag.api.search(query, k, filters)，把 hits 正規化成 (pid, chunk_id)，對 frozen gold relevant chunks 打分。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CC45A91-9EAA-4E71-A01E-6E7E772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957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3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檢索品質：三個排序指標（Tier 1，全部 deterministic）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9530735-0047-4C47-AC0E-67D29CB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24912"/>
            <a:ext cx="3454298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D3A570A-4C78-4404-8041-A92743C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443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02c5139444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163" y="304970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39A2300-D42D-44C6-BC40-8F82763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2944368"/>
            <a:ext cx="253989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Recall@k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9EE0182-26AA-43C5-8223-E49E0681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74720"/>
            <a:ext cx="299709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前 k 筆命中多少 gold chunks；多個 relevant 時看覆蓋率，不只看第一筆。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C33F2C7-0043-42A2-B126-CEC3EAD1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8" y="2724912"/>
            <a:ext cx="3454298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71F572C-4133-46F8-90C7-32F3D0BC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442" y="29443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ef5dbb0e9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1781" y="304970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8538C8CC-C014-4746-8BCE-4C754607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082" y="2944368"/>
            <a:ext cx="253989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MRR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416F73E-C80F-4D32-BEB8-8B6C066F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730" y="3474720"/>
            <a:ext cx="299709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看第一個 relevant 的名次：rank=1 得 1.0，rank=2 得 0.5，越前越高。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1BAB4B4-E5B0-443D-B48B-9FC7D7F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2724912"/>
            <a:ext cx="3454298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CAD6B46A-CEB6-42A7-AE98-E72B1DC6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061" y="294436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e70b8405b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0400" y="304970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8B5C7697-7551-4AEC-9D27-E22CD16E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701" y="2944368"/>
            <a:ext cx="253989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nDCG@k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B92E8EAE-895F-4B0A-99E1-4E571B7B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3474720"/>
            <a:ext cx="299709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用 log2 折扣每個命中位置；同樣 recall 下，排序越接近 ideal 越高。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61630666-481A-48E8-93CA-1557552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42816"/>
            <a:ext cx="10911535" cy="566928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625EC985-52E2-48A2-8825-E1131E6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0"/>
            <a:ext cx="103628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48">
                <a:latin typeface="Microsoft JhengHei"/>
                <a:ea typeface="Microsoft JhengHei"/>
                <a:cs typeface="Microsoft JhengHei"/>
              </a:defRPr>
            </a:pPr>
            <a:r>
              <a:rPr sz="1148" b="1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答案忠實度（Tier 2）　</a:t>
            </a:r>
            <a:r>
              <a:rPr sz="1148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目前 code 只落 Tier 1 ranking；若加 LLM judge/RAGAS，應獨立於 retrieval 分數。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71EAAB95-27BE-4166-B2F8-F3E887B7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9601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899CBB96-CE89-4BEA-9A33-5372EA7D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37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2395ef0bc4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350" y="529474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CBC1D049-8419-4AED-BFA5-208F9EAD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5029200"/>
            <a:ext cx="9814255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可重現性　</a:t>
            </a:r>
            <a:r>
              <a:rPr sz="12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evaluate 前用 fixture content_hash 檢查 Chroma store：ids / documents / metadata / embeddings 排序後一起 hash；不合就 fail-fast。每 case detail 保留 query / k / filters / prediction / gold / scores。</a:t>
            </a:r>
          </a:p>
        </p:txBody>
      </p:sp>
    </p:spTree>
    <p:extLst>
      <p:ext uri="{BB962C8B-B14F-4D97-AF65-F5344CB8AC3E}">
        <p14:creationId xmlns:p14="http://schemas.microsoft.com/office/powerpoint/2010/main" val="554048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F53DAD-EA23-454A-991D-E1B6006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543E3D-3212-4963-A5A3-9A43F09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14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0EEE0A9-62B6-4491-AA58-DDC6BEEE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6450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99B090-C7E2-4F48-821A-B16E74E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4630AD8-FE97-47D3-BF70-0D4D09B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92740E-D327-415D-BE1A-B4B1678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評估設計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B231BE5-085F-49D1-B85A-2CF3BC9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2175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C3：Skill 遵循 + 流程把關 — 三層 evaluator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2C26D2-947D-48A4-B821-DF8B766A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1091153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C3 把規則違規、reviewer 判斷、session retry 分開量測；不讓 reviewer 自己當裁判。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2276C3B-9188-4070-A226-AF00AA10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751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e7d3300df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7008" y="208483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4A61DB7-1757-436F-ABD8-54CF9805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92024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Validator label 準確性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0906168-4414-4BC7-B7A8-FE4DA190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20240"/>
            <a:ext cx="49679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validator 回傳 violation labels；exact match + TP/FP/FN/TN → P/R/F1、FPR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9DB33BC-670A-42F6-AE3F-94DB2F21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45059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040323D-D467-4801-9EC1-F00283D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334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7b9adc07f4e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7008" y="274320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674D88F-44BE-4698-B005-E8333B17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Retry 是否真的發生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C37F447-EF16-49AF-8EDA-16A20A1D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78608"/>
            <a:ext cx="49679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normal 看 attempts / invoke_count；extended 用 FakeGraph，看 retry 後 violations 是否清空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25062F4-A890-420B-ACAE-60FE3A3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08960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96F2D60-7418-4A1E-A303-0A88FB1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91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ed77ccc4a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7008" y="34015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577C1278-D279-4CC9-95F4-A3F2ADD2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236976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Reviewer 分類器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E446679-749E-4DA8-9D85-E862A1EA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236976"/>
            <a:ext cx="49679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ReviewReport → decision、route、failure_modes、needs_input、severity；macro P/R/F1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E2D10ECC-1A38-4E19-BB74-8A3DA5D7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67328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ABF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E2E3EDC-3370-4A28-B24A-5FFC3AD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502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66ef94cf6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7008" y="405993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F8295CE-7E52-400C-9D2E-F80940A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895344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錯誤也算分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8D28E94B-05FA-471F-A465-1CF068A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95344"/>
            <a:ext cx="49679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parse / schema / model-config error 進 parse_errors；該 case 當 miss，不讓壞輸出過關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C9D68E2-3E66-4B88-B2C1-320FCD70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91153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83217072-032E-41CC-ACB7-3B6858B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23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6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6092276ca4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52120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8B9B2675-6D14-4493-88E4-D18147E1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937760"/>
            <a:ext cx="9814255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45">
                <a:latin typeface="Microsoft JhengHei"/>
                <a:ea typeface="Microsoft JhengHei"/>
                <a:cs typeface="Microsoft JhengHei"/>
              </a:defRPr>
            </a:pPr>
            <a:r>
              <a:rPr sz="1245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設計重點　</a:t>
            </a:r>
            <a:r>
              <a:rPr sz="1245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validator 是 deterministic 規則分；reviewer 是受測 classifier；C3c 再測 normal / extended session 是否會 retry 並產生 clean final answer，避免只有單元分數漂亮。</a:t>
            </a:r>
          </a:p>
        </p:txBody>
      </p:sp>
    </p:spTree>
    <p:extLst>
      <p:ext uri="{BB962C8B-B14F-4D97-AF65-F5344CB8AC3E}">
        <p14:creationId xmlns:p14="http://schemas.microsoft.com/office/powerpoint/2010/main" val="308632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1990B9-F911-4F7C-A398-1E9BF73F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4E87CA-C07B-4382-9FBE-03C3377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15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9C59D7-E62A-4B16-90CD-B7161C1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01318B0-6607-4603-9123-1BCBE3D3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5243B"/>
                </a:solidFill>
                <a:latin typeface="Cambria"/>
                <a:ea typeface="Cambria"/>
                <a:cs typeface="Cambria"/>
              </a:rPr>
              <a:t>14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760EA61-267A-4C6B-B6F8-8C799E15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F1B69E-70DA-40EC-A5D9-20BC4B17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評估設計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D6B84E-E5B5-4440-9D13-DFEF84DE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2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C4：端到端任務完成 — tool trace + answer checklist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19DA5F-EAE0-4CB2-80A2-7AE07F5F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23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23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怎麼評：跑完整 session trace，再用獨立 checklist 檢查「有做、沒碰禁用、答案有交付」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C885ED8-59C2-41F9-88AC-C98F82BA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65376"/>
            <a:ext cx="3149498" cy="877824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D88F292-9D7A-46E6-8B36-E59D945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299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927a0e984a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809" y="212652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68A8D83-DCA3-47D3-B242-9AF0990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2011680"/>
            <a:ext cx="232653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用對工具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0711326-3615-4CD0-B9E6-A6F9FAA7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2340864"/>
            <a:ext cx="232653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930">
                <a:solidFill>
                  <a:srgbClr val="6A7C94"/>
                </a:solidFill>
                <a:latin typeface="Courier New"/>
                <a:ea typeface="Courier New"/>
                <a:cs typeface="Courier New"/>
              </a:defRPr>
            </a:pPr>
            <a:r>
              <a:rPr sz="93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required + forbidden tools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B0E2955-25CE-40B4-9D25-5D13068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66" y="2029968"/>
            <a:ext cx="42062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A8A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0CB656C-85AD-4C20-98DD-486D102A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778" y="1865376"/>
            <a:ext cx="3149498" cy="877824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18E630A-98F2-442E-89AF-883CB0C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946" y="20299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bcc8811464d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4507" y="212652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0F42074-265A-4130-BC64-753169EE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34" y="2011680"/>
            <a:ext cx="232653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滿足明列需求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3711CC2-986D-4D5A-AB61-80D7E89C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34" y="2340864"/>
            <a:ext cx="232653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930">
                <a:solidFill>
                  <a:srgbClr val="6A7C94"/>
                </a:solidFill>
                <a:latin typeface="Courier New"/>
                <a:ea typeface="Courier New"/>
                <a:cs typeface="Courier New"/>
              </a:defRPr>
            </a:pPr>
            <a:r>
              <a:rPr sz="93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contains + regex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57ED959F-A33D-4598-9AEF-E4F4D86B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565" y="2029968"/>
            <a:ext cx="42062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A8A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EB769F0-382E-48FD-8B61-3E66D711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477" y="1865376"/>
            <a:ext cx="3149498" cy="877824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21488CC-B6F2-4419-AB15-040472F8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45" y="202996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bfa08c5ca4e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1205" y="212652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D8198172-04E4-4C07-8708-CFCF627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133" y="2011680"/>
            <a:ext cx="232653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任務整體達成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7CB596C4-DF37-41D0-8D49-949FA19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133" y="2340864"/>
            <a:ext cx="232653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930">
                <a:solidFill>
                  <a:srgbClr val="6A7C94"/>
                </a:solidFill>
                <a:latin typeface="Courier New"/>
                <a:ea typeface="Courier New"/>
                <a:cs typeface="Courier New"/>
              </a:defRPr>
            </a:pPr>
            <a:r>
              <a:rPr sz="93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AND 後才 pass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DAC866C-2EA5-46AF-9235-AA8EE9D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07792"/>
            <a:ext cx="32918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C"/>
          </a:solidFill>
        </p:spPr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94E6F4DF-4720-4D78-BC70-C358B3E8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07792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133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33">
                <a:solidFill>
                  <a:srgbClr val="147E76"/>
                </a:solidFill>
                <a:latin typeface="Microsoft JhengHei"/>
                <a:ea typeface="Microsoft JhengHei"/>
                <a:cs typeface="Microsoft JhengHei"/>
              </a:rPr>
              <a:t>計分：task success / required tools / answer requirements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B515A3B2-3161-471C-ADA2-3E30B822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C04A37"/>
                </a:solidFill>
                <a:latin typeface="Microsoft JhengHei"/>
                <a:ea typeface="Microsoft JhengHei"/>
                <a:cs typeface="Microsoft JhengHei"/>
              </a:rPr>
              <a:t>刻意分開設計的事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D384448D-B8BF-47CA-B087-B34CD8FB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85616"/>
            <a:ext cx="3149498" cy="120700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B8C025D7-CAF3-4A22-A2E7-A86EF71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8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87e3ea510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097" y="4065057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31A696A3-4548-4445-B160-E676534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950208"/>
            <a:ext cx="232653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1177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77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與 C2 分開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3BC650E3-8C99-423B-9460-558014F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43984"/>
            <a:ext cx="271058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buNone/>
              <a:defRPr sz="982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82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C4 不評 search ranking，只看任務是否完成，避免 retrieval 分數混入 workflow。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A272AFF8-4A10-4D15-9CDC-6D52DCA2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778" y="3785616"/>
            <a:ext cx="3149498" cy="120700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9465350E-1FB1-4438-B2A8-F8AFBC00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34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9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95e4efe214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2795" y="4065057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A4337E5F-6936-4B73-AC66-BF5DFCBB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22" y="3950208"/>
            <a:ext cx="232653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1177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77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工具軌跡也算數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C8EF2F4A-9459-47A3-9511-F9F0123D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22" y="4443984"/>
            <a:ext cx="271058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buNone/>
              <a:defRPr sz="982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82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即使答案像對，缺 required tool 或碰 forbidden tool 也 fail。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15ECFF7E-9DC9-4647-9497-87888E8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477" y="3785616"/>
            <a:ext cx="3149498" cy="1207008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8E1D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6BA7F0ED-09A9-4FA2-AC1B-9403A4CC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933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pic>
        <p:nvPicPr>
          <p:cNvPr id="9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0b4af79a849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69493" y="4065057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DF4CD18A-5CE8-4394-9C89-77F8036C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421" y="3950208"/>
            <a:ext cx="232653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  <a:defRPr sz="1177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77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已知的張力</a:t>
            </a:r>
          </a:p>
        </p:txBody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8DEDB81E-E61D-4F71-9D5D-EAB5368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221" y="4443984"/>
            <a:ext cx="271058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3000"/>
              </a:lnSpc>
              <a:buNone/>
              <a:defRPr sz="982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82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checklist 清楚可追蹤但較窄；要靠 cases 覆蓋真實任務變化。</a:t>
            </a:r>
          </a:p>
        </p:txBody>
      </p:sp>
      <p:sp>
        <p:nvSpPr>
          <p:cNvPr id="45" name="Shape 37">
            <a:extLst xmlns:a="http://schemas.openxmlformats.org/drawingml/2006/main">
              <a:ext uri="{FF2B5EF4-FFF2-40B4-BE49-F238E27FC236}">
                <a16:creationId xmlns:a16="http://schemas.microsoft.com/office/drawing/2014/main" id="{C2AD01A0-3854-47F9-A48D-3F331F34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10911535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1255F6C2-B315-47F5-AA79-91A683E7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218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10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44300843349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673" y="541836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E63CD35E-4C85-492F-BA70-8FD75489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5193792"/>
            <a:ext cx="9905695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48">
                <a:latin typeface="Microsoft JhengHei"/>
                <a:ea typeface="Microsoft JhengHei"/>
                <a:cs typeface="Microsoft JhengHei"/>
              </a:defRPr>
            </a:pPr>
            <a:r>
              <a:rPr sz="1148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四個模組合起來　</a:t>
            </a:r>
            <a:r>
              <a:rPr sz="1148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C1 管路由 trace，C2 管檢索排名，C3 管 skill / reviewer / session guardrails，C4 管 end-to-end checklist；detail 留 answer、actual_tools、gold、scores 供審核。</a:t>
            </a:r>
          </a:p>
        </p:txBody>
      </p:sp>
    </p:spTree>
    <p:extLst>
      <p:ext uri="{BB962C8B-B14F-4D97-AF65-F5344CB8AC3E}">
        <p14:creationId xmlns:p14="http://schemas.microsoft.com/office/powerpoint/2010/main" val="781392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08E2FB-75D9-4567-BECC-1736C61E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81F1F5-BC69-4A8B-B026-89D01C6A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16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5C9AB94-2B94-4468-934A-69F36B5B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AC7105E-BFED-448C-A793-790F06C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15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BC05366-56D8-4BB7-84BE-10A8E2C4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4C822A2-4C33-40DA-8AB7-95E3FF8B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研究結果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6B55FC-D50A-4AE8-80BA-5A021C4F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做出了什麼：本學期的系統成果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AFAFAA9-162F-4C5C-B691-679DDEEB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73936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9CFDA28-310F-4790-97FB-D856E0EE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2938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0fa8b13be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875" y="203472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2D46744-FCE5-47EC-AE58-4DF7AC7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865376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本機研究知識庫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F921373-DA18-4531-9462-C2308B7A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865376"/>
            <a:ext cx="551657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把研究資料與程式碼索引成可檢索的本機知識庫。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AA2C41F-E072-433D-BC6D-7111FA0C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88A2F83-13BF-45A5-9047-17463279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7063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56c08b3ed4e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875" y="287597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8A11AC28-6D9D-429D-AEF8-AC3F67F4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06624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從單次檢索到 agentic workflow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665FD83-18B3-4516-94F6-0570D03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706624"/>
            <a:ext cx="551657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讓系統能多步決策，而不只是一次 query → answer。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29E4CC1-495E-428A-B727-303D761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EB08695-5BAB-4C53-8D65-27E4111F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6118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a0844fe4b4e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875" y="371721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500F69E8-748D-4050-82C4-C8531078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47872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工具使用與長期脈絡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22FCECA2-70CE-439E-BF07-B303972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547872"/>
            <a:ext cx="551657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加入工具呼叫、工具限制、研究脈絡延續與外部工具。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6E4772AC-D8AE-4910-8C62-FFCA615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A30DA60F-0897-4E42-A92D-4FE80E72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4531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9acc66b4a4c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875" y="455846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FE71B2C-D8E9-45D4-85BD-508274C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389120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初步可靠性評估框架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58273B33-798A-4F2A-8BD4-C183DA99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389120"/>
            <a:ext cx="551657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不只看答案，也看工具使用與證據忠實度。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C6F9F22B-4A06-4579-9B07-30A2E63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5E2DAC10-EE21-4B59-9B2A-20F75342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2943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ad7db90be4e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875" y="53997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CEB5EBB9-8299-46ED-BD27-007AB686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30368"/>
            <a:ext cx="4206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比較會「停下來」的 agent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F1829C8E-05B6-42BE-B106-0CF6267F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5230368"/>
            <a:ext cx="551657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修復過度搜尋，讓 agent 在資料不足時較能誠實停下。</a:t>
            </a:r>
          </a:p>
        </p:txBody>
      </p:sp>
    </p:spTree>
    <p:extLst>
      <p:ext uri="{BB962C8B-B14F-4D97-AF65-F5344CB8AC3E}">
        <p14:creationId xmlns:p14="http://schemas.microsoft.com/office/powerpoint/2010/main" val="11960645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9E8B30-5F7A-46DA-9C81-A1B9B70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76E1EE-59BD-43A5-80BB-AD84FEAE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17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417265-6E97-40A8-B5AD-21DFCD4F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795EEF6-480C-4B70-81C3-418A7600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16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42272E5-8D96-4300-9484-C9564E52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C7D143-277B-4DEB-B046-4541699D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研究結果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1BCCEC-6751-4C44-886B-898F151E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更重要的是：五個研究觀察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DD10C5-C686-4ABD-A36A-9EBAB4A9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EC97E1-5F87-42C8-9A07-DB310AD3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2938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5A9FB1-6BE6-4A35-9D4C-91D7BD6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2938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40A48A-5FC7-44E0-841B-0ED61D1D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828800"/>
            <a:ext cx="5394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傳統 RAG 的瓶頸不只在「找得準」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5F25AB-7177-49B5-B4EE-65EB476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28800"/>
            <a:ext cx="4327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也在於任務流程不夠彈性，無法支援多步驟研究。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CACED5D-C123-427A-946E-3E5338C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96896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99CEDB3-5A20-434D-9427-9B8A11B1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7063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DB5EF8-68DC-428E-9571-F618229E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7063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B21BC3D-BA4A-45C4-8F05-8B6A3B67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70048"/>
            <a:ext cx="5394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Agentic RAG 多了能力，也多了控制問題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0B1112B-5826-4C19-8ADD-E9F8176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670048"/>
            <a:ext cx="4327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能自己決策很強大，但也更難保證它行為可控。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C6C2BD8-3EC8-4E8B-846C-2ED0690A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38144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4936C2F-85D2-4B8C-B243-ECAC0785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118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6ECCDE-F7E7-4721-A0DF-679CF852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1188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479876-3CFC-4A53-9467-B99F4ED3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11296"/>
            <a:ext cx="5394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「查不到」本身是一種重要能力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78A5064-417A-4671-AE1D-92BFD441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511296"/>
            <a:ext cx="4327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agent 必須知道何時停止，而不是無止境地搜尋。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F7FFBC2-4A46-4C33-9DBE-F77F25D6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79392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D5C2FD-A645-4774-8A24-5E3AFBBA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5312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DD1FFEC-ABA4-4054-82D3-52151732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5312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83CEE56-C9B0-4474-93DD-C128AFE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352544"/>
            <a:ext cx="5394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真實資料也可能造成錯誤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C49AEF1-A44E-4B1B-8579-F9F2720A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352544"/>
            <a:ext cx="4327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尤其是時間範圍與來源範圍錯置——真資料放錯情境。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B3C9B1A-5F0C-4426-9CAB-34FD922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10911535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97294A6-53E4-4C55-A4EC-697A07B2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29437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4A37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0F6ABB1-D8CA-4C6D-8C17-41F69108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29437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BE00DAE-5BD5-40D1-A0C2-172F98B4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193792"/>
            <a:ext cx="5394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評估 agent 不能只看最終答案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29B5202-F693-4D92-84E6-DB44DD4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193792"/>
            <a:ext cx="4327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還要看它的工具軌跡（tool trajectory）與證據。</a:t>
            </a:r>
          </a:p>
        </p:txBody>
      </p:sp>
    </p:spTree>
    <p:extLst>
      <p:ext uri="{BB962C8B-B14F-4D97-AF65-F5344CB8AC3E}">
        <p14:creationId xmlns:p14="http://schemas.microsoft.com/office/powerpoint/2010/main" val="15282917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241417-8409-4F25-AF72-F106B3CB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DBC5F1-69E2-49AF-85CF-44607732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18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E29A8E3-E751-4C79-96C2-7C4B098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FD94FD-AC1B-4D4A-A807-33A999D0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17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B491501-DE9C-49AD-9697-4A3F662D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300F7BA-ACC5-4CAD-A470-00F5AD5A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討論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BED6E85-A15D-4A95-905D-6680D69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2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這些問題，對「研究助理」代表什麼？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8313D1C-44C5-4324-8C69-43B63AE7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10911535" cy="841248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15243B"/>
          </a:solidFill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195BE19-5224-4289-86A8-E7D02AE2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907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5a88e9fb3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82880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04E6E38-9921-474D-A009-89361A0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517904"/>
            <a:ext cx="9768535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30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共同主線　</a:t>
            </a:r>
            <a:r>
              <a:rPr sz="13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前面這些案例，其實都指向同一件事——真正難的不是接上 LLM 或 vector DB，而是「可靠性」。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E205BA-A677-4304-9F25-3903E23E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42032"/>
            <a:ext cx="8229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一個「能用的研究助理」與「demo」的差別，在於四件事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446EE95-FD4C-46FA-B5E4-E1D0DFC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71216"/>
            <a:ext cx="2522144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41EAB14-BA99-4CA5-B817-C65193A5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32" y="307238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f89a80c83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8505" y="3204058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E7FAEC3-7BA8-4256-901D-53897148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23392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邊界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F73273A-BCB8-4929-A6C8-B8A5A14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31920"/>
            <a:ext cx="219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9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答案是否落在指定的資料、時間、來源範圍內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D587533-0730-48DB-8724-953C87E2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544" y="2871216"/>
            <a:ext cx="2522144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E808FFD-1A63-4AE1-9729-98B1AF86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296" y="307238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ecc3ef5bb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969" y="3204058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53C77060-F0FB-4664-BD17-E2ADD89F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984" y="3657600"/>
            <a:ext cx="23392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控制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ECF550E6-4463-467D-9CBD-0DAE27B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136" y="3931920"/>
            <a:ext cx="219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9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工具能不能被約束，不會亂用或過度使用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61603F8C-70A7-4B8A-8794-8A4CA3F0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08" y="2871216"/>
            <a:ext cx="2522144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31CC12D5-3BE5-43E8-872F-9D8D53EC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760" y="307238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5126c639f43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1433" y="3204058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18959CAE-F13F-41D3-9D8A-703059E9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657600"/>
            <a:ext cx="23392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停止條件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AD3FCD7B-5966-46B4-805F-0ECCFB6D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600" y="3931920"/>
            <a:ext cx="219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9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查不到時能不能穩定停下、誠實說不足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D2DCE89B-553C-46B8-9853-0512C81C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471" y="2871216"/>
            <a:ext cx="2522144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12700">
            <a:solidFill>
              <a:srgbClr val="DCE5F0"/>
            </a:solidFill>
            <a:prstDash val="solid"/>
          </a:ln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69C9B959-C7FA-4649-80E5-129D7FA8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223" y="307238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5f1f780c0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7897" y="3204058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4CDD0E7D-7632-4CAA-80FC-4CA0051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911" y="3657600"/>
            <a:ext cx="233926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可評估性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AFEC3E19-AA8F-4769-ACBF-01C8F0E8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63" y="3931920"/>
            <a:ext cx="219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93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行為能不能被檢驗，而不只看答案漂不漂亮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69EA154D-4196-48F8-B084-CC4F0E8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43984"/>
            <a:ext cx="10911535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BEBD3"/>
          </a:solidFill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8B282B4A-9437-4C32-9681-0DF8B103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000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1A"/>
          </a:solidFill>
        </p:spPr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2ba987aba48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062" y="480096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78175BB7-9BAF-4F8C-9F56-BFE9F8F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4535424"/>
            <a:ext cx="9905695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00" b="1">
                <a:solidFill>
                  <a:srgbClr val="C9781A"/>
                </a:solidFill>
                <a:latin typeface="Microsoft JhengHei"/>
                <a:ea typeface="Microsoft JhengHei"/>
                <a:cs typeface="Microsoft JhengHei"/>
              </a:rPr>
              <a:t>對我研究的意義　</a:t>
            </a:r>
            <a:r>
              <a:rPr sz="1200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它改變了我看「做 RAG 系統」這件事的角度：難的不是檢索本身，而是讓 agent 在不確定中仍然可控、可信、可被檢驗。這才是研究型 agent 的核心。</a:t>
            </a:r>
          </a:p>
        </p:txBody>
      </p:sp>
    </p:spTree>
    <p:extLst>
      <p:ext uri="{BB962C8B-B14F-4D97-AF65-F5344CB8AC3E}">
        <p14:creationId xmlns:p14="http://schemas.microsoft.com/office/powerpoint/2010/main" val="12477997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534582-B5B7-4089-AAF4-4A541384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A7C94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DC636F-CF0B-48AD-A764-8CC3DD5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A7C94"/>
                </a:solidFill>
                <a:latin typeface="Courier New"/>
                <a:ea typeface="Courier New"/>
                <a:cs typeface="Courier New"/>
              </a:rPr>
              <a:t>19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2FFB62E-9E2B-4642-8FBC-D67336E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  <a:effectLst xmlns:a="http://schemas.openxmlformats.org/drawingml/2006/main">
            <a:outerShdw blurRad="101600" dist="25400" dir="5400000" sx="100000" sy="100000" kx="0" ky="0" algn="bl" rotWithShape="0">
              <a:srgbClr val="12233B">
                <a:alpha val="18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57251AD-97E8-4F55-92F6-0AAE30B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4980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18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BD53D8B-9AAC-42A0-8D3F-F340D0C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610C36-5CD5-460A-A6D1-CDC79D9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215" y="566928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E4369"/>
                </a:solidFill>
                <a:latin typeface="Microsoft JhengHei"/>
                <a:ea typeface="Microsoft JhengHei"/>
                <a:cs typeface="Microsoft JhengHei"/>
              </a:rPr>
              <a:t>未來工作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8386572-2836-4717-852D-42F18D4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0624"/>
            <a:ext cx="78482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25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下一步要往哪裡走？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1CC763-45CD-4A29-9D4B-ECC25AC3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17904"/>
            <a:ext cx="1091153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把它從「個人研究工具」推進成「可被實驗室使用的研究助理」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60436F-5FF6-4987-A0E6-432C01E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38528"/>
            <a:ext cx="5272888" cy="950976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930A129-93B5-4950-B998-23067793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9456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7d61c318041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163" y="229989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123DDC5-4C02-441D-BBC6-BD78263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066544"/>
            <a:ext cx="4267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更正式的 benchmark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CF75FAD-0389-4BB2-AD8B-E1B28B9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95728"/>
            <a:ext cx="4267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建立正式的 evaluation set，讓結果可比較、可重現。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A2B3CFD-E394-409D-A5CD-D216400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938528"/>
            <a:ext cx="5272888" cy="950976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3EAB8E6-0E19-4B4E-8FD3-CB916359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19456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10ec83be24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1810" y="229989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68E7BF8-3A9B-43C5-BE15-10A660A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88" y="2066544"/>
            <a:ext cx="4267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更穩定的停止條件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03BC218-F1D0-4AEF-BF2E-54D9196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88" y="2395728"/>
            <a:ext cx="4267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讓「查不到就停」成為穩定行為，而非個案修補。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40B60D6-0618-4CDC-BC0B-193BCCA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272888" cy="950976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43B7D24-9C27-472E-B5F5-9052588F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73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8881a1d14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163" y="33788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9EF2D11-219D-4E0D-91F3-AD88BC64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145536"/>
            <a:ext cx="4267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時間／來源邊界檢查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0D7FB0E2-3DA6-4751-997C-625D0A7B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474720"/>
            <a:ext cx="4267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系統性地檢查證據是否落在指定範圍內。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6DE6A13-2CC0-48F5-83AD-4ADEEAC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017520"/>
            <a:ext cx="5272888" cy="950976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8652BDB4-180A-48A7-814E-4B9896D3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2735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a7870677745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1810" y="33788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1626B2EB-F922-42FB-B327-9F4A8BE7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88" y="3145536"/>
            <a:ext cx="4267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evidence ledger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C954FB75-E45E-4772-8622-5DE3137B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88" y="3474720"/>
            <a:ext cx="4267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讓多階段 agent 共享一份可追蹤的證據清單。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32276ED5-23DF-42AB-94C2-E099D626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96512"/>
            <a:ext cx="5272888" cy="950976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5A23A861-D0A4-47B4-A196-057C29B5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35254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4369"/>
          </a:solidFill>
        </p:spPr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ba363b051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163" y="445788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2B9CCD87-3CA6-4F28-98C8-C05C350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24528"/>
            <a:ext cx="4267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資料 ingestion 與權限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53C23F1-FFC2-45F6-A30B-BB59B030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53712"/>
            <a:ext cx="4267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更好的實驗室資料匯入流程與存取控管。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247E7B3-6FA6-4390-8A53-9AE71A5A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4096512"/>
            <a:ext cx="5272888" cy="950976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F0"/>
            </a:solidFill>
            <a:prstDash val="solid"/>
          </a:ln>
          <a:effectLst xmlns:a="http://schemas.openxmlformats.org/drawingml/2006/main">
            <a:outerShdw blurRad="139700" dist="50800" dir="5400000" sx="100000" sy="100000" kx="0" ky="0" algn="bl" rotWithShape="0">
              <a:srgbClr val="12233B">
                <a:alpha val="10000"/>
              </a:srgbClr>
            </a:outerShdw>
          </a:effectLst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7571F853-AB61-4766-A47F-66FC04CD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435254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76"/>
          </a:solidFill>
        </p:spPr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2721d6c09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1810" y="445788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C9B4E4E9-87AE-46D3-8F85-E1E96C4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88" y="4224528"/>
            <a:ext cx="42670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真實研究任務測試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ED1ACE21-0870-42B6-96B4-4F6EFD6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688" y="4553712"/>
            <a:ext cx="4267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050">
                <a:solidFill>
                  <a:srgbClr val="3A4A60"/>
                </a:solidFill>
                <a:latin typeface="Microsoft JhengHei"/>
                <a:ea typeface="Microsoft JhengHei"/>
                <a:cs typeface="Microsoft JhengHei"/>
              </a:rPr>
              <a:t>論文整理、程式碼理解、實驗紀錄查詢等真實場景。</a:t>
            </a:r>
          </a:p>
        </p:txBody>
      </p:sp>
    </p:spTree>
    <p:extLst>
      <p:ext uri="{BB962C8B-B14F-4D97-AF65-F5344CB8AC3E}">
        <p14:creationId xmlns:p14="http://schemas.microsoft.com/office/powerpoint/2010/main" val="19461401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5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E62A59-7153-4553-B30F-F73EE6A4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Agentic RAG 研究回顧　·　本機研究助理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4DEE6D-C83F-40C7-A918-C902338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ABF"/>
                </a:solidFill>
                <a:latin typeface="Courier New"/>
                <a:ea typeface="Courier New"/>
                <a:cs typeface="Courier New"/>
              </a:rPr>
              <a:t>20 / 20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D7C5BA-AF94-46A1-905F-CD6C3779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55448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726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1F71B90-4DF9-46C7-84C8-CF3D5664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98b813377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143" y="702991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C3FB479-54F4-4CD3-8DD2-A5FE356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66928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CEB67-7ADE-4287-894E-5CACAB30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115568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4369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196115C-5728-459F-A8B2-D2971BF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1155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7E875A5-847A-49F0-BA24-33FD1241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1481328"/>
            <a:ext cx="457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D5A17FB-0E55-4A5C-8276-250B057D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1481328"/>
            <a:ext cx="2871216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4369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9B8AFC-218E-4FC8-BC50-48A6D98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1481328"/>
            <a:ext cx="28712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Agentic RAG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7D978F0-DCAF-49A5-8EE2-65D65CFA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481328"/>
            <a:ext cx="457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9AAAB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FABD60F-758F-4754-8BB4-BF3CBBCF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481328"/>
            <a:ext cx="19933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9A23B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E3AFC1E-CF65-4A73-8101-6753A40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481328"/>
            <a:ext cx="199339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可靠性才是核心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2591747-54E6-4578-9017-C9EDBB2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12848"/>
            <a:ext cx="10911535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C1726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517CD01-D895-44EF-AE71-8A5E4F1A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658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b71daf876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739" y="249192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0ABD007-469F-4478-B1A5-4FC7B50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04288"/>
            <a:ext cx="42976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1　不是一般 chatbot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CFEF9A4-A701-4338-9E16-DCC8602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04288"/>
            <a:ext cx="5470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本學期完成的，是一個面向研究流程的本機 Agentic RAG prototype。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F343146-3CC0-469D-8909-B7F5435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911535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C1726"/>
          </a:solidFill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19E6D1-66AD-45AA-99E2-2C170F3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269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4123e22fd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739" y="338803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290EBFC0-AA35-420F-A004-3EE455A5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00400"/>
            <a:ext cx="42976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2　難的不是接 LLM</a:t>
            </a: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D6AED324-8E95-46B9-8902-72D0B61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5470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真正困難的是資料邊界、工具控制、停止條件與可評估性。</a:t>
            </a:r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C426F413-6C36-442E-B853-82C8ED1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05072"/>
            <a:ext cx="10911535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C1726"/>
          </a:solidFill>
        </p:spPr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C9A369B-B95F-4147-B3D9-44B4FE6A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880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00e6a2ddc47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739" y="4284147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E70EBAC8-6C84-4060-9E49-72D05C6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096512"/>
            <a:ext cx="42976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E9A23B"/>
                </a:solidFill>
                <a:latin typeface="Microsoft JhengHei"/>
                <a:ea typeface="Microsoft JhengHei"/>
                <a:cs typeface="Microsoft JhengHei"/>
              </a:rPr>
              <a:t>3　下一步：可被實驗室使用</a:t>
            </a:r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BCD9CD97-412F-4FD2-B600-A754F4E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096512"/>
            <a:ext cx="547085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EAF1F8"/>
                </a:solidFill>
                <a:latin typeface="Microsoft JhengHei"/>
                <a:ea typeface="Microsoft JhengHei"/>
                <a:cs typeface="Microsoft JhengHei"/>
              </a:rPr>
              <a:t>把它從個人研究工具，推進成更穩定、可重現、可被實驗室使用的研究助理。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CE9F103A-0421-4EB3-AF57-CA264869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841248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E9A23B"/>
          </a:solidFill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113A7C1A-2015-409C-9401-A3147DF0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10180015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400" b="1">
                <a:solidFill>
                  <a:srgbClr val="15243B"/>
                </a:solidFill>
                <a:latin typeface="Microsoft JhengHei"/>
                <a:ea typeface="Microsoft JhengHei"/>
                <a:cs typeface="Microsoft JhengHei"/>
              </a:rPr>
              <a:t>從「查得到資料」到「可靠地支援研究」——這就是把 RAG 變成研究型 agent 的那段路。</a:t>
            </a:r>
          </a:p>
        </p:txBody>
      </p:sp>
    </p:spTree>
    <p:extLst>
      <p:ext uri="{BB962C8B-B14F-4D97-AF65-F5344CB8AC3E}">
        <p14:creationId xmlns:p14="http://schemas.microsoft.com/office/powerpoint/2010/main" val="99706931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2026-06-23T05:12:10.9410000Z</dcterms:created>
  <dcterms:modified xsi:type="dcterms:W3CDTF">2026-06-23T05:12:10.9410000Z</dcterms:modified>
</coreProperties>
</file>